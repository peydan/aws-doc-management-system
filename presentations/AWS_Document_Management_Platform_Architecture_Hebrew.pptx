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05840"/>
            <a:ext cx="164592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9900"/>
                </a:solidFill>
                <a:latin typeface="Segoe UI"/>
              </a:defRPr>
            </a:pPr>
            <a:r>
              <a:t>ארכיטקטורת פתרון ארגוני ב-AWS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פלטפורמת ניהול מסמכים ארגונית בענן (Cloud-Native)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ארכיטקטורת Serverless מבוזרת, מודל סמכות משולש (Tri-Partite Source of Truth), אימות WORM ועמידה בתקני רגולציה מחמירים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2542032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100% Serverless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2176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חיסכון מלא בעלויות סרק: S3, DynamoDB On-Demand, Lambda, SQS ו-OpenSearch Serverless ללא שרתים מנוהלים.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3931920"/>
            <a:ext cx="2542032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411480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מודל סמכות משולש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4480560"/>
            <a:ext cx="2176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הפרדה חדה בין תוכן בינארי (S3), מטא-דאטה מובנה (S3 Annotations), ומנוע בקרה (DynamoDB OCC).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3931920"/>
            <a:ext cx="2542032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411480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84FC"/>
                </a:solidFill>
                <a:latin typeface="Segoe UI"/>
              </a:defRPr>
            </a:pPr>
            <a:r>
              <a:t>זמני תגובה מהירים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4480560"/>
            <a:ext cx="2176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קליטת קבצים ב-~150ms, שאילתות DynamoDB ב-sub-10ms, והורדות ישירות מ-S3 ב-sub-50ms.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3931920"/>
            <a:ext cx="2542032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411480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Segoe UI"/>
              </a:defRPr>
            </a:pPr>
            <a:r>
              <a:t>אבטחה וביקורת WORM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4480560"/>
            <a:ext cx="2176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הצפנת KMS ייעודית, בקרת הרשאות RBAC ב-Cognito, יומן ביקורת בלתי-הפיך ותיוג משאבים מלא.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1 מתוך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ערך אסטרטגי והקשר עסקי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תמצית מנהלים וארכיטקטורת על של הפתרון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מודרניזציה של ניהול תוכן ארגוני באמצעות שירותי Serverless מבוזרים וחסרי שרתים בענן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עקרונות ליבה בארכיטקטורה הארגונית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אלסטיות מבוססת צריכה בפועל: </a:t>
            </a:r>
            <a:r>
              <a:rPr b="0">
                <a:solidFill>
                  <a:srgbClr val="94A3B8"/>
                </a:solidFill>
              </a:rPr>
              <a:t>ארכיטקטורת Serverless מלאה מבטיחה אפס עלויות סרק בזמני מנוחה והתרחבות אוטומטית בעומסי שיא.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מודל סמכות מבוזר ומופרד: </a:t>
            </a:r>
            <a:r>
              <a:rPr b="0">
                <a:solidFill>
                  <a:srgbClr val="94A3B8"/>
                </a:solidFill>
              </a:rPr>
              <a:t>הפרדה בין אחסון קבצים, אינדוקס מטא-דאטה ומנוע חיפוש טקסטואלי מונעת נעילות מערכתיות וכשלים שרשרתיים.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S3 Object Annotations מובנה: </a:t>
            </a:r>
            <a:r>
              <a:rPr b="0">
                <a:solidFill>
                  <a:srgbClr val="94A3B8"/>
                </a:solidFill>
              </a:rPr>
              <a:t>ביטול מגבלת 2 KB של כותרות S3 ללא שימוש בקבצי Sidecar, תוך תמיכה מלאה בהתפתחות סכמות.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עמידה ברגולציית WORM ושקיפות ביקורת: </a:t>
            </a:r>
            <a:r>
              <a:rPr b="0">
                <a:solidFill>
                  <a:srgbClr val="94A3B8"/>
                </a:solidFill>
              </a:rPr>
              <a:t>אכיפת גרסאות קבצים בלתי-הפיכות, בקרת מקביליות אופטימית (OCC), ויומן ביקורת רציף ב-S3.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Segoe UI"/>
              </a:defRPr>
            </a:pPr>
            <a:r>
              <a:t>יכולות מרכזיות ותוצאות עסקיות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✓ עלות בעלות כוללת (TCO) מינימלית: </a:t>
            </a:r>
            <a:r>
              <a:rPr b="0">
                <a:solidFill>
                  <a:srgbClr val="94A3B8"/>
                </a:solidFill>
              </a:rPr>
              <a:t>מודל תשלום לפי שימוש (Lambda, S3, DynamoDB, OpenSearch Serverless) ללא צורך בהקצאת שרתים יקרה מראש.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✓ שרידות של 11 תשיעיות (11 9s): </a:t>
            </a:r>
            <a:r>
              <a:rPr b="0">
                <a:solidFill>
                  <a:srgbClr val="94A3B8"/>
                </a:solidFill>
              </a:rPr>
              <a:t>אחסון קבצים ב-Amazon S3 עם חסימת מחיקה מכוונת באמצעות מדיניות s3:DeleteObjectVersion DENY קשיחה.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✓ זמני תגובה נמוכים במיוחד: </a:t>
            </a:r>
            <a:r>
              <a:rPr b="0">
                <a:solidFill>
                  <a:srgbClr val="94A3B8"/>
                </a:solidFill>
              </a:rPr>
              <a:t>העלאת קבצים רגילים ב-~150ms; קישורי הורדה ישירים ב-&lt;50ms; בקרת DynamoDB טרנזקציונית ב-sub-10ms.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✓ בידוד מוחלט של מרחב הכשל (Blast Radius): </a:t>
            </a:r>
            <a:r>
              <a:rPr b="0">
                <a:solidFill>
                  <a:srgbClr val="94A3B8"/>
                </a:solidFill>
              </a:rPr>
              <a:t>תקלה זמנית במנוע החיפוש OpenSearch אינה מונעת העלאה, הורדה או עריכת מטא-דאטה של מסמכים.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2 מתוך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טופולוגיית המערכת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תרשים ארכיטקטורת הפתרון המלאה (End-to-End)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טופולוגיית Serverless מלאה ב-AWS: בקרת כניסה, שכבת מחשוב מבוזרת ושכבות אחסון מופרדות</a:t>
            </a:r>
          </a:p>
        </p:txBody>
      </p:sp>
      <p:pic>
        <p:nvPicPr>
          <p:cNvPr id="5" name="Picture 4" descr="aws_document_managemen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498079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508760"/>
            <a:ext cx="3047695" cy="4709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1691640"/>
            <a:ext cx="268193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  <a:latin typeface="Segoe UI"/>
              </a:defRPr>
            </a:pPr>
            <a:r>
              <a:t>עיקרי הארכיטקטורה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שער ה-API (API Gateway):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ניתוב REST מאובטח, אימות JWT באמצעות Cognito, והעברת תוכן בינארי ישיר (*/*).</a:t>
            </a:r>
          </a:p>
          <a:p>
            <a:pPr>
              <a:spcBef>
                <a:spcPts val="600"/>
              </a:spcBef>
              <a:defRPr sz="1000" b="1">
                <a:solidFill>
                  <a:srgbClr val="34D399"/>
                </a:solidFill>
                <a:latin typeface="Segoe UI"/>
              </a:defRPr>
            </a:pPr>
            <a:r>
              <a:t>מיקרו-שירותי Lambda מבודדים: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פונקציות פיקוד, שאילתה וחיפוש הפועלות תחת הרשאות IAM מינימליות (Least Privilege).</a:t>
            </a:r>
          </a:p>
          <a:p>
            <a:pPr>
              <a:spcBef>
                <a:spcPts val="600"/>
              </a:spcBef>
              <a:defRPr sz="1000" b="1">
                <a:solidFill>
                  <a:srgbClr val="FBBF24"/>
                </a:solidFill>
                <a:latin typeface="Segoe UI"/>
              </a:defRPr>
            </a:pPr>
            <a:r>
              <a:t>S3 Object Annotations מובנה: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מטא-דאטה מוסמך בפורמט JSON הצמוד ישירות לגרסת אובייקט ה-S3 (document-metadata).</a:t>
            </a:r>
          </a:p>
          <a:p>
            <a:pPr>
              <a:spcBef>
                <a:spcPts val="600"/>
              </a:spcBef>
              <a:defRPr sz="1000" b="1">
                <a:solidFill>
                  <a:srgbClr val="C084FC"/>
                </a:solidFill>
                <a:latin typeface="Segoe UI"/>
              </a:defRPr>
            </a:pPr>
            <a:r>
              <a:t>טבלת בקרת מצב (DynamoDB):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טבלה מרכזית המנהלת מצבי מסמך (DOC#{id}), היסטוריית גרסאות וסשנים בריצת sub-10ms.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צינור עיבוד אסינכרוני (CDC):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זרמי DynamoDB מעבירים שינויים ליומן ביקורת ב-S3 ולתור SQS לאינדוקס ב-OpenSearch.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3 מתוך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משילות נתונים וסמכות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מודל הסמכות והעקביות ב-5 שכבות (5-Tier Authority Model)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מניעת נעילות טרנזקציוניות מבוזרות באמצעות הגדרת גבולות סמכות ברורים לכל שירות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1. סמכות התוכן (Content Authority)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Amazon S3 (Primary Bucket)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645920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אחסון קבצים בינאריים בלתי-הפיך (PDF, TIFF, Office). ניהול גרסאות עם מדיניות נעילה s3:DeleteObjectVersion DENY לעמידה מלאה בתקני WORM. חתימות הצפנה SHA-256.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87168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24328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Segoe UI"/>
              </a:defRPr>
            </a:pPr>
            <a:r>
              <a:t>2. סמכות המטא-דאטה (Metadata Authority)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Amazon S3 Annotations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624328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מטא-דאטה מלא ומובנה בפורמט JSON המאוחסן כ-Annotation רשמי (document-metadata) הצמוד ישירות לגרסת ה-S3 ומאומת עפ"י סכמת bank.document-metadata/1.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65576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02736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9900"/>
                </a:solidFill>
                <a:latin typeface="Segoe UI"/>
              </a:defRPr>
            </a:pPr>
            <a:r>
              <a:t>3. סמכות הבקרה (Control Plane)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Amazon DynamoDB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602736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טבלת בקרת מצב המנהלת מצביעי מסמכים פעילים (DOC#{id}), היסטוריית גרסאות (VER#{pad}), נעילות אופטימיות (OCC) וסשנים בריצת sub-10ms.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43984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581144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084FC"/>
                </a:solidFill>
                <a:latin typeface="Segoe UI"/>
              </a:defRPr>
            </a:pPr>
            <a:r>
              <a:t>4. היטל חיפוש נגזר (Search Read Projection)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OpenSearch Serverless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581144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מודל קריאה CQRS אסינכרוני המעודכן מזרמי DynamoDB דרך תור SQS. כשל בחיפוש אינו משפיע על העלאה, עריכה או הורדה של מסמכים.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22392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55955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5. שקיפות ביקורת (Non-Repudiation Audit)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Amazon S3 Audit Bucket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559552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יומן שינויים בלתי-הפיך המועבר אוטומטית לדלי ביקורת ייעודי ומוצפן ב-KMS בחלוקה לפי תאריכים לצרכי רגולציה וחקירה משפטית.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4 מתוך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ארכיטקטורת נתונים מעמיקה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חלוקת תפקידים: S3 Annotations מול טבלת הבקרה ב-DynamoDB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מדוע נדרשים שני השירותים: פתרון מגבלות אחסון אובייקטים באמצעות מהירות של מסד נתונים טרנזקציוני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926080"/>
                <a:gridCol w="3047695"/>
              </a:tblGrid>
              <a:tr h="666205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000" b="1">
                          <a:solidFill>
                            <a:srgbClr val="FF9900"/>
                          </a:solidFill>
                          <a:latin typeface="Segoe UI"/>
                        </a:defRPr>
                      </a:pPr>
                      <a:r>
                        <a:t>מימד ארכיטקטוני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Amazon S3 &amp; S3 Annotations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טבלת הבקרה ב-DynamoDB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מדוע DynamoDB חיוני?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666205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סמכות מטא-דאטה מלאה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סמכות עליונה (מכיל את ה-JSON המלא לפי סכמה)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שומר מצביע קל משקל, מונה עדכונים ו-ETag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S3 Annotations מצמיד את המטא-דאטה ישירות לגרסת הקובץ ומאפשר שאילתות SQL באגם נתונים.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666205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בקרת מקביליות (OCC)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אין תמיכה בהתניות מורכבות על שדות JSON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סמכות ראשית: אכיפה אטומית ConditionExpression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DynamoDB מוודא אטומית current_metadata_revision = :exp למניעת דריסת עדכונים מקבילים.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66205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איתור מצביע פעיל O(1)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דורש סריקה איטית של כלל גרסאות האובייקט ב-Bucket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סמכות ראשית: שליפת מפתח ישירה בפחות מ-10ms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DynamoDB ממפה DOC#{id} ישירות ל-s3_version_id העדכני ללא קריאות ListObjects איטיות.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666205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היסטוריית גרסאות מסודרת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מזהי גרסאות ב-S3 אינם עוקבים ואינם קריאים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סמכות ראשית: שליפה מהירה לפי begins_with(VER#)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מאפשר שליפת היסטוריית גרסאות ממוינת (v1, v2, v3) בשאילתה אולטרה-מהירה אחת.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66205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טרנזקציות רב-רכיביות (ACID)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אין מנגנון טרנזקציוני מובנה רב-אובייקטי ב-S3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סמכות ראשית: TransactWriteItems אטומי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מעדכן אטומית את מצביע המסמך, רושם גרסה חדשה ונועל מזהה Idempotency בקריאה אחת.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666210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קליטת שינויים רציפה (CDC)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אירועי S3 אינם כוללים תמונת מצב לפני/אחרי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סמכות ראשית: DynamoDB Streams מובנה ומסודר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פולט אירועים מסודרים המזינים אסינכרונית את יומן הביקורת ב-S3 ואת מנוע החיפוש OpenSearch.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5 מתוך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ארכיטקטורת אירועים ו-CQRS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צינור עיבוד אסינכרוני (CDC) ואינדוקס חיפוש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הפרדה מונעת-אירועים: DynamoDB Streams ← יומן ביקורת ב-S3 ותור SQS ← אינדקס OpenSearch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48640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Segoe UI"/>
              </a:defRPr>
            </a:pPr>
            <a:r>
              <a:t>שלבי מחזור החיים של עיבוד האירוע</a:t>
            </a:r>
          </a:p>
          <a:p>
            <a:pPr>
              <a:spcBef>
                <a:spcPts val="800"/>
              </a:spcBef>
              <a:defRPr sz="1050" b="1">
                <a:solidFill>
                  <a:srgbClr val="34D399"/>
                </a:solidFill>
                <a:latin typeface="Segoe UI"/>
              </a:defRPr>
            </a:pPr>
            <a:r>
              <a:t>1. ביצוע טרנזקציה ב-DynamoDB: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העלאה, גרסה חדשה, עריכת מטא-דאטה או מחיקה לוגית נרשמים ב-DynamoDB ופולטים אירוע ל-DynamoDB Streams.</a:t>
            </a:r>
          </a:p>
          <a:p>
            <a:pPr>
              <a:spcBef>
                <a:spcPts val="800"/>
              </a:spcBef>
              <a:defRPr sz="1050" b="1">
                <a:solidFill>
                  <a:srgbClr val="34D399"/>
                </a:solidFill>
                <a:latin typeface="Segoe UI"/>
              </a:defRPr>
            </a:pPr>
            <a:r>
              <a:t>2. מעבד האירועים (StreamProcessor Lambda):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קולט אצוות אירועים בזמן אמת ומבצע שתי פעולות במקביל:</a:t>
            </a:r>
            <a:br/>
            <a:r>
              <a:t> • כותב רשומת ביקורת JSON בלתי-הפיכה ל-S3 Audit Bucket.</a:t>
            </a:r>
            <a:br/>
            <a:r>
              <a:t> • שולח הודעת אינדוקס לתור ה-SQS של מנוע החיפוש.</a:t>
            </a:r>
          </a:p>
          <a:p>
            <a:pPr>
              <a:spcBef>
                <a:spcPts val="800"/>
              </a:spcBef>
              <a:defRPr sz="1050" b="1">
                <a:solidFill>
                  <a:srgbClr val="34D399"/>
                </a:solidFill>
                <a:latin typeface="Segoe UI"/>
              </a:defRPr>
            </a:pPr>
            <a:r>
              <a:t>3. מנוע האינדוקס (SQS Indexer Lambda):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מושך הודעות מ-SQS, קורא את ה-Annotation המוסמך מ-S3 ומעדכן את אינדקס החיפוש ב-OpenSearch Serverless.</a:t>
            </a:r>
          </a:p>
          <a:p>
            <a:pPr>
              <a:spcBef>
                <a:spcPts val="800"/>
              </a:spcBef>
              <a:defRPr sz="1050" b="1">
                <a:solidFill>
                  <a:srgbClr val="34D399"/>
                </a:solidFill>
                <a:latin typeface="Segoe UI"/>
              </a:defRPr>
            </a:pPr>
            <a:r>
              <a:t>4. בידוד כשלים ותור הודעות שגויות (DLQ):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במידה ו-OpenSearch אינו זמין זמנית, מתבצעים 3 ניסיונות חוזרים וההודעה מבודדת ב-DLQ תוך הפעלת התראת CloudWatch.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5937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737360"/>
            <a:ext cx="46021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  <a:latin typeface="Segoe UI"/>
              </a:defRPr>
            </a:pPr>
            <a:r>
              <a:t>מבנה הודעת האינדוקס בתור SQS (JSON)</a:t>
            </a:r>
          </a:p>
          <a:p>
            <a:pPr>
              <a:spcBef>
                <a:spcPts val="600"/>
              </a:spcBef>
              <a:defRPr sz="950">
                <a:solidFill>
                  <a:srgbClr val="38BDF8"/>
                </a:solidFill>
                <a:latin typeface="Consolas"/>
              </a:defRPr>
            </a:pPr>
            <a:r>
              <a:t>{</a:t>
            </a:r>
            <a:br/>
            <a:r>
              <a:t>  "event_id": "e3b0c442-98fc-1c14-9afb-f4c8996fb924",</a:t>
            </a:r>
            <a:br/>
            <a:r>
              <a:t>  "event_type": "DOCUMENT_METADATA_UPDATED",</a:t>
            </a:r>
            <a:br/>
            <a:r>
              <a:t>  "document_id": "550e8400-e29b-41d4-a716-446655440000",</a:t>
            </a:r>
            <a:br/>
            <a:r>
              <a:t>  "document_class": "loan_agreement",</a:t>
            </a:r>
            <a:br/>
            <a:r>
              <a:t>  "application_version": 2,</a:t>
            </a:r>
            <a:br/>
            <a:r>
              <a:t>  "metadata_revision": 3,</a:t>
            </a:r>
            <a:br/>
            <a:r>
              <a:t>  "status": "ACTIVE",</a:t>
            </a:r>
            <a:br/>
            <a:r>
              <a:t>  "timestamp": "2026-08-18T15:05:00.000Z",</a:t>
            </a:r>
            <a:br/>
            <a:r>
              <a:t>  "actor_id": "usr_editor_02"</a:t>
            </a:r>
            <a:br/>
            <a:r>
              <a:t>}</a:t>
            </a:r>
          </a:p>
          <a:p>
            <a:pPr>
              <a:spcBef>
                <a:spcPts val="800"/>
              </a:spcBef>
              <a:defRPr sz="1100" b="1">
                <a:solidFill>
                  <a:srgbClr val="C084FC"/>
                </a:solidFill>
                <a:latin typeface="Segoe UI"/>
              </a:defRPr>
            </a:pPr>
            <a:r>
              <a:t>יתרונות חוסן והתאוששות עצמית: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צריכה אידמפוטנטית: אינדוקס מוגן גרסאות מונע דריסה של אירועים שהגיעו שלא לפי הסדר.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שחזור מלא של אינדקס החיפוש: ניתן למחוק ולבנות מחדש 100% מאינדקס OpenSearch מתוך נתוני ה-S3 Annotations.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בידוד תקלות: השבתה של מנוע החיפוש אינה מפריעה להעלאות, הורדות או עריכת מטא-דאטה.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6 מתוך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ניהול גרסאות ומשילות מטא-דאטה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מעקב גרסאות תלת-שכבתי ומטריצת שינוי שדות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שלמות קריפטוגרפית, מעקב מצב מונוטוני ומשילות סכמות קפדנית ללא אובדן מידע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1848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1. גרסת יישום לוגית</a:t>
            </a:r>
          </a:p>
          <a:p>
            <a:pPr>
              <a:defRPr sz="900">
                <a:solidFill>
                  <a:srgbClr val="F8FAFC"/>
                </a:solidFill>
                <a:latin typeface="Consolas"/>
              </a:defRPr>
            </a:pPr>
            <a:r>
              <a:t>application_version (1, 2, 3...)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מספר שלם מונוטוני העולה אך ורק בהעלאת קובץ בינארי חדש (POST /versions). מאפס את מונה ה-revision ל-1.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08760"/>
            <a:ext cx="3429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61848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2. גרסה פיזית ב-S3</a:t>
            </a:r>
          </a:p>
          <a:p>
            <a:pPr>
              <a:defRPr sz="900">
                <a:solidFill>
                  <a:srgbClr val="F8FAFC"/>
                </a:solidFill>
                <a:latin typeface="Consolas"/>
              </a:defRPr>
            </a:pPr>
            <a:r>
              <a:t>s3_version_id ("3/L4bqt9...")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10312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מזהה גרסה קריפטוגרפי ובלתי-הפיך הנוצר אוטומטית ע"י S3 עבור הקובץ הבינארי המאוחסן ב-Bucket הראשי.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508760"/>
            <a:ext cx="3429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61848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Segoe UI"/>
              </a:defRPr>
            </a:pPr>
            <a:r>
              <a:t>3. גרסת מטא-דאטה (OCC)</a:t>
            </a:r>
          </a:p>
          <a:p>
            <a:pPr>
              <a:defRPr sz="900">
                <a:solidFill>
                  <a:srgbClr val="F8FAFC"/>
                </a:solidFill>
                <a:latin typeface="Consolas"/>
              </a:defRPr>
            </a:pPr>
            <a:r>
              <a:t>metadata_revision (1, 2, 3...)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210312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מונה עדכוני מטא-דאטה אופטימי העולה בכל עדכון (PATCH /metadata). נאכף אטומית ב-DynamoDB.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3063240"/>
          <a:ext cx="10728655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2103120"/>
                <a:gridCol w="3504895"/>
              </a:tblGrid>
              <a:tr h="630936">
                <a:tc>
                  <a:txBody>
                    <a:bodyPr wrap="square" tIns="54864" bIns="54864"/>
                    <a:lstStyle/>
                    <a:p>
                      <a:pPr>
                        <a:defRPr sz="950" b="1">
                          <a:solidFill>
                            <a:srgbClr val="FF9900"/>
                          </a:solidFill>
                          <a:latin typeface="Segoe UI"/>
                        </a:defRPr>
                      </a:pPr>
                      <a:r>
                        <a:t>Field Names (שם שדה)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קטגוריה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כלל שינוי (Mutability)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מנגנון עדכון ומשילות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630936"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document_id, document_class, created_at, created_by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זהות מערכתית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 b="1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בלתי-הפיך לחלוטין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מוקצה פעם אחת ביצירת המסמך. ניסיון שינוי נדחה בשגיאת 400 Bad Request.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630936"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application_version, content_type, format, page_count, content_length, content_checksum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מפרט בינארי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 b="1">
                          <a:solidFill>
                            <a:srgbClr val="FBBF24"/>
                          </a:solidFill>
                          <a:latin typeface="Segoe UI"/>
                        </a:defRPr>
                      </a:pPr>
                      <a:r>
                        <a:t>בלתי-הפיך עבור הגרסה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צמוד קריפטוגרפית לקובץ (SHA-256). מתעדכן אך ורק בקריאת POST /versions או המרה ל-PDF.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30936"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metadata_revision, metadata_updated_at, metadata_updated_by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מעקב מקביליות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 b="1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מונוטוני אוטומטי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מנוהל אוטומטית ע"י פונקציית ה-Lambda ומנגנון ה-OCC ב-DynamoDB.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630936"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customer_id, complete_customer_id_code, account_id, business_area_code, loan_number...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תכונות עסקיות ומשותפות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ניתן לעריכה (PATCH)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ניתן לעדכון ב-PATCH /metadata עם אימות סכמת JSON Schema ובדיקת מונה גרסה.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7 מתוך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בקרת מקביליות ומשילות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בקרת מקביליות אופטימית (OCC) והתפתחות סכמות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מניעת דריסת עדכונים בעומסים גבוהים ואימות סכמות JSON Schema מהיר בזיכרון (Ajv)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אלגוריתם ה-OCC (PATCH /v1/documents/{id}/metadata)</a:t>
            </a:r>
          </a:p>
          <a:p>
            <a:pPr>
              <a:spcBef>
                <a:spcPts val="600"/>
              </a:spcBef>
              <a:defRPr sz="1000" b="1">
                <a:solidFill>
                  <a:srgbClr val="34D399"/>
                </a:solidFill>
                <a:latin typeface="Segoe UI"/>
              </a:defRPr>
            </a:pPr>
            <a:r>
              <a:t>1. הלקוח מעביר גרסה צפויה:</a:t>
            </a:r>
          </a:p>
          <a:p>
            <a:pPr>
              <a:spcBef>
                <a:spcPts val="100"/>
              </a:spcBef>
              <a:defRPr sz="850">
                <a:solidFill>
                  <a:srgbClr val="F8FAFC"/>
                </a:solidFill>
                <a:latin typeface="Segoe UI"/>
              </a:defRPr>
            </a:pPr>
            <a:r>
              <a:t>הקריאה כוללת expected_metadata_revision: N יחד עם השדות המבוקשים לעדכון.</a:t>
            </a:r>
          </a:p>
          <a:p>
            <a:pPr>
              <a:spcBef>
                <a:spcPts val="600"/>
              </a:spcBef>
              <a:defRPr sz="1000" b="1">
                <a:solidFill>
                  <a:srgbClr val="34D399"/>
                </a:solidFill>
                <a:latin typeface="Segoe UI"/>
              </a:defRPr>
            </a:pPr>
            <a:r>
              <a:t>2. בדיקת עקביות ב-DynamoDB:</a:t>
            </a:r>
          </a:p>
          <a:p>
            <a:pPr>
              <a:spcBef>
                <a:spcPts val="100"/>
              </a:spcBef>
              <a:defRPr sz="850">
                <a:solidFill>
                  <a:srgbClr val="F8FAFC"/>
                </a:solidFill>
                <a:latin typeface="Segoe UI"/>
              </a:defRPr>
            </a:pPr>
            <a:r>
              <a:t>ה-Lambda קורא את רשומת DOC#{id}. אם המונה אינו תואם בדיוק ל-N, הקריאה נדחית מיד בשגיאת 409 Conflict.</a:t>
            </a:r>
          </a:p>
          <a:p>
            <a:pPr>
              <a:spcBef>
                <a:spcPts val="600"/>
              </a:spcBef>
              <a:defRPr sz="1000" b="1">
                <a:solidFill>
                  <a:srgbClr val="34D399"/>
                </a:solidFill>
                <a:latin typeface="Segoe UI"/>
              </a:defRPr>
            </a:pPr>
            <a:r>
              <a:t>3. שליפת ה-Annotation מ-S3 ומיזוג:</a:t>
            </a:r>
          </a:p>
          <a:p>
            <a:pPr>
              <a:spcBef>
                <a:spcPts val="100"/>
              </a:spcBef>
              <a:defRPr sz="850">
                <a:solidFill>
                  <a:srgbClr val="F8FAFC"/>
                </a:solidFill>
                <a:latin typeface="Segoe UI"/>
              </a:defRPr>
            </a:pPr>
            <a:r>
              <a:t>ה-Lambda קורא את ה-JSON הקיים מ-S3, מוודא שאין שינוי בשדות אסורים, מעלה את המונה ל-N+1 ומאמת מול Ajv.</a:t>
            </a:r>
          </a:p>
          <a:p>
            <a:pPr>
              <a:spcBef>
                <a:spcPts val="600"/>
              </a:spcBef>
              <a:defRPr sz="1000" b="1">
                <a:solidFill>
                  <a:srgbClr val="34D399"/>
                </a:solidFill>
                <a:latin typeface="Segoe UI"/>
              </a:defRPr>
            </a:pPr>
            <a:r>
              <a:t>4. שמירת ה-Annotation המעודכן ב-S3:</a:t>
            </a:r>
          </a:p>
          <a:p>
            <a:pPr>
              <a:spcBef>
                <a:spcPts val="100"/>
              </a:spcBef>
              <a:defRPr sz="850">
                <a:solidFill>
                  <a:srgbClr val="F8FAFC"/>
                </a:solidFill>
                <a:latin typeface="Segoe UI"/>
              </a:defRPr>
            </a:pPr>
            <a:r>
              <a:t>שמירה אטומית של ה-JSON המעודכן ישירות ב-S3 באמצעות PutObjectAnnotation.</a:t>
            </a:r>
          </a:p>
          <a:p>
            <a:pPr>
              <a:spcBef>
                <a:spcPts val="600"/>
              </a:spcBef>
              <a:defRPr sz="1000" b="1">
                <a:solidFill>
                  <a:srgbClr val="34D399"/>
                </a:solidFill>
                <a:latin typeface="Segoe UI"/>
              </a:defRPr>
            </a:pPr>
            <a:r>
              <a:t>5. עדכון מותנה אטומי ב-DynamoDB:</a:t>
            </a:r>
          </a:p>
          <a:p>
            <a:pPr>
              <a:spcBef>
                <a:spcPts val="100"/>
              </a:spcBef>
              <a:defRPr sz="850">
                <a:solidFill>
                  <a:srgbClr val="F8FAFC"/>
                </a:solidFill>
                <a:latin typeface="Segoe UI"/>
              </a:defRPr>
            </a:pPr>
            <a:r>
              <a:t>ביצוע עדכון מותנה (ConditionExpression: current_metadata_revision = :expRev). במידה והתרחש מרוץ מקבילי, הפעולה נכשלת.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  <a:latin typeface="Segoe UI"/>
              </a:defRPr>
            </a:pPr>
            <a:r>
              <a:t>משילות סכמות ואימות בשיטת GitOps</a:t>
            </a:r>
          </a:p>
          <a:p>
            <a:pPr>
              <a:spcBef>
                <a:spcPts val="600"/>
              </a:spcBef>
              <a:defRPr sz="1050" b="1">
                <a:solidFill>
                  <a:srgbClr val="C084FC"/>
                </a:solidFill>
                <a:latin typeface="Segoe UI"/>
              </a:defRPr>
            </a:pPr>
            <a:r>
              <a:t>מחזור חיים מבוסס GitOps (אימות בזמן הידור):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אפס השהיית Cold Start: </a:t>
            </a:r>
            <a:r>
              <a:rPr b="0">
                <a:solidFill>
                  <a:srgbClr val="94A3B8"/>
                </a:solidFill>
              </a:rPr>
              <a:t>סכמות ה-JSON נארזות ישירות בקוד ה-Lambda ומהודרות לזיכרון בעלייה (Ajv Precompiled) ללא צורך בקריאות רשת.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הגדרת מעטפת סגורה: </a:t>
            </a:r>
            <a:r>
              <a:rPr b="0">
                <a:solidFill>
                  <a:srgbClr val="94A3B8"/>
                </a:solidFill>
              </a:rPr>
              <a:t>הגדרת additionalProperties: false מונעת זיהום נתונים ושינויי מבנה לא מבוקרים.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בקרת שינויים קפדנית ב-Git: </a:t>
            </a:r>
            <a:r>
              <a:rPr b="0">
                <a:solidFill>
                  <a:srgbClr val="94A3B8"/>
                </a:solidFill>
              </a:rPr>
              <a:t>כל עדכון סכמה דורש Pull Request, בדיקות linting אוטומטיות ותיעוד מלא.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שלב 2 במפת הדרכים: </a:t>
            </a:r>
            <a:r>
              <a:rPr b="0">
                <a:solidFill>
                  <a:srgbClr val="94A3B8"/>
                </a:solidFill>
              </a:rPr>
              <a:t>תמיכה עתידית ב-Schema Registry דינמי מבוסס DynamoDB להרשמת סכמות בזמן ריצה.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8 מתוך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קליטת מסמכים מתקדמת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ארכיטקטורת קליטה דו-ערוצית (Bimodal Ingestion)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אופטימיזציית זמני תגובה וביטול מגבלת 10 MiB של API Gateway עבור קבצים גדולים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ערוץ 1: העלאה ישירה בבקשה אחת (≤ 4 MiB)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בקשת HTTP בודדת למסמכים רגילים, קבלות, טפסי הלוואה ותעודות זהות.</a:t>
            </a:r>
          </a:p>
          <a:p>
            <a:pPr>
              <a:spcBef>
                <a:spcPts val="800"/>
              </a:spcBef>
              <a:defRPr sz="900">
                <a:solidFill>
                  <a:srgbClr val="34D399"/>
                </a:solidFill>
                <a:latin typeface="Consolas"/>
              </a:defRPr>
            </a:pPr>
            <a:r>
              <a:t>POST /v1/documents</a:t>
            </a:r>
            <a:br/>
            <a:r>
              <a:t>Headers:</a:t>
            </a:r>
            <a:br/>
            <a:r>
              <a:t>  • Content-Type: application/pdf</a:t>
            </a:r>
            <a:br/>
            <a:r>
              <a:t>  • X-Content-SHA256: {hex_hash}</a:t>
            </a:r>
            <a:br/>
            <a:r>
              <a:t>  • X-Document-Metadata: {base64_json_envelope}</a:t>
            </a:r>
            <a:br/>
            <a:r>
              <a:t>Body: Raw Binary Bytes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מאפייני ביצועים: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זמן תגובה כולל: מענה סינכרוני מהיר בתוך 120ms עד 250ms בלבד.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שמירה אטומית: שמירת הקובץ ב-S3, ה-Annotation ומצביע ה-DynamoDB בטרנזקציה אחת.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חוויית לקוח פשוטה: קריאת HTTP בודדת המחזירה קוד 201 Created עם מטא-דאטה מלא.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  <a:latin typeface="Segoe UI"/>
              </a:defRPr>
            </a:pPr>
            <a:r>
              <a:t>ערוץ 2: העלאה ישירה בקישור חתום ל-S3 (&gt; 4 MiB)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פרוטוקול דו-שלבי המיועד לתיקי משכנתאות עבי כרס, סריקות וקבצי ענק.</a:t>
            </a:r>
          </a:p>
          <a:p>
            <a:pPr>
              <a:spcBef>
                <a:spcPts val="800"/>
              </a:spcBef>
              <a:defRPr sz="900">
                <a:solidFill>
                  <a:srgbClr val="38BDF8"/>
                </a:solidFill>
                <a:latin typeface="Consolas"/>
              </a:defRPr>
            </a:pPr>
            <a:r>
              <a:t>שלב 1: POST /v1/documents/uploads</a:t>
            </a:r>
            <a:br/>
            <a:r>
              <a:t>  ← אימות סכמה ויצירת קישור S3 Presigned PUT ל-15 דקות.</a:t>
            </a:r>
            <a:br/>
            <a:r>
              <a:t>שלב 2: PUT {presigned_url}</a:t>
            </a:r>
            <a:br/>
            <a:r>
              <a:t>  ← הלקוח מזרים את הקובץ ישירות ל-S3 במהירות מקסימלית.</a:t>
            </a:r>
            <a:br/>
            <a:r>
              <a:t>שלב 3: POST /v1/uploads/{id}/complete</a:t>
            </a:r>
            <a:br/>
            <a:r>
              <a:t>  ← ה-Lambda מוודא תקינות, כותב Annotation ומפעיל את המסמך.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מאפייני ביצועים: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עקיפת מגבלת 10 MiB ב-API Gateway: תמיכה בקבצים עד גודל של עשרות גיגה-בייט.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אפס תקורת זיכרון ב-Lambda: שכבת המחשוב אינה מתווכת בנפח הקבצים עצמם.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ניקוי אוטומטי מבוסס TTL: סשנים שלא הושלמו מנוקים אוטומטית לאחר 24 שעות ב-DynamoDB.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9 מתוך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ממשקי API וחוזים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קטלוג ה-REST APIs המלא: 15 נקודות קצה ייעודיות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חלוקה פונקציונלית לקליטה, מחזור חיים, מטא-דאטה, הורדה מאובטחת וחיפוש מתקדם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03120"/>
                <a:gridCol w="2834640"/>
                <a:gridCol w="2468880"/>
                <a:gridCol w="944575"/>
              </a:tblGrid>
              <a:tr h="27432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FF9900"/>
                          </a:solidFill>
                          <a:latin typeface="Segoe UI"/>
                        </a:defRPr>
                      </a:pPr>
                      <a:r>
                        <a:t>מתודה ונתיב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שם הפעולה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רכיבי יעד מעורבים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תפקיד RBAC נדרש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סוג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27432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GET /health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בדיקת בריאות מערכתית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DynamoDB, S3, OpenSearch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פתוח / כל התפקידים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סינכרוני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7432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/v1/documents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העלאת מסמך ישירה (Inline)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API GW, Lambda, S3, DynamoDB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Document.Writer / Admin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סינכרוני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/v1/documents/uploads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אתחול העלאה ישירה ל-S3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S3 Presign, DynamoDB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Document.Writer / Admin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סינכרוני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7432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/v1/uploads/{id}/complete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השלמת העלאה ישירה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S3 Annotate, DynamoDB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Document.Writer / Admin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סינכרוני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F43F5E"/>
                          </a:solidFill>
                          <a:latin typeface="Consolas"/>
                        </a:defRPr>
                      </a:pPr>
                      <a:r>
                        <a:t>DELETE /v1/uploads/{id}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ביטול סשן העלאה ישירה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S3 Abort, DynamoDB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Document.Writer / Admin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סינכרוני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7432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GET /v1/documents/{id}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שליפת מצביע מסמך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API GW, Lambda, DynamoDB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Document.Reader / כולם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סינכרוני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GET /v1/documents/{id}/versions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שליפת היסטוריית גרסאות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DynamoDB VER# Query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Document.Reader / כולם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סינכרוני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7432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/v1/documents/{id}/versions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העלאת גרסה בינארית חדשה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S3 Binary+Annot, DynamoDB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Document.Writer / Admin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סינכרוני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GET /v1/documents/{id}/versions/{v}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שליפת גרסה היסטורית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DynamoDB VER# Item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Document.Reader / כולם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סינכרוני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7432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GET /v1/documents/{id}/metadata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שליפת מטא-דאטה מוסמך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S3 Annotation Get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Document.Reader / כולם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סינכרוני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FBBF24"/>
                          </a:solidFill>
                          <a:latin typeface="Consolas"/>
                        </a:defRPr>
                      </a:pPr>
                      <a:r>
                        <a:t>PATCH /v1/documents/{id}/metadata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עדכון מטא-דאטה (OCC)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S3 Annotate, DynamoDB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Document.MetadataEditor / Writer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סינכרוני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7432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GET /v1/documents/{id}/download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קבלת קישור הורדה חתום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S3 Presign (15 min)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Document.Reader / כולם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סינכרוני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/v1/documents/{id}/soft-delete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מחיקה לוגית (Soft Delete)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DynamoDB, CDC De-index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Document.Admin בלבד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סינכרוני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7432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/v1/documents/{id}/restore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שחזור מסמך שנמחק לוגית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DynamoDB, CDC Re-index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Document.Admin בלבד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סינכרוני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/v1/search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חיפוש טקסטואלי וסינון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OpenSearch Serverless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Document.Reader / כולם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סינכרוני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7432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/v1/documents/batch-download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ייצוא מקבץ מסמכים (ZIP)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JSZip, S3 Presign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Document.Reader / כולם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סינכרוני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10 מתוך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רצפי הרצת ממשקים (API SEQUENCES)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פירוט תהליך רצף: העלאת מסמך ישירה (Inline ≤ 4 MiB)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תהליך רצף 02: POST /v1/documents — שמירה אטומית בטרנזקציה אחת</a:t>
            </a:r>
          </a:p>
        </p:txBody>
      </p:sp>
      <p:pic>
        <p:nvPicPr>
          <p:cNvPr id="5" name="Picture 4" descr="02_post_documents_in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132320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508760"/>
            <a:ext cx="3413455" cy="4709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691640"/>
            <a:ext cx="30476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פירוט שלבי הביצוע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1. בקרת כניסה ואימות: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API Gateway מוודא את טוקן ה-JWT מול Cognito (דורש הרשאת Document.Writer או Admin).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2. אימות סכמה וחישוב Checksum: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ה-Lambda מחשב SHA-256 על הקובץ ומאמת את מעטפת ה-JSON מול הסכמה בזיכרון (Ajv).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3. כתיבה ל-S3 והצמדת Annotation: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העלאת הקובץ ל-S3 והצמדת ה-Annotation המובנה (document-metadata).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4. שמירה אטומית ב-DynamoDB: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ביצוע TransactWriteItems ליצירת מצביע DOC#{id}, גרסה VER#0000000001 ונעילת Idempotency.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5. פליטת אירוע CDC: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זרמי DynamoDB מפעילים אסינכרונית את מעבד האירועים לרישום ביקורת ואינדוקס ב-OpenSearch.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11 מתוך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רצפי הרצת ממשקים (API SEQUENCES)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פירוט תהליך רצף: העלאה ישירה בקישור חתום ל-S3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תהליכי רצף 03 ו-04: POST /v1/documents/uploads ו-POST /v1/uploads/{id}/complete</a:t>
            </a:r>
          </a:p>
        </p:txBody>
      </p:sp>
      <p:pic>
        <p:nvPicPr>
          <p:cNvPr id="5" name="Picture 4" descr="03_post_documents_uploads_in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12080" cy="3474720"/>
          </a:xfrm>
          <a:prstGeom prst="rect">
            <a:avLst/>
          </a:prstGeom>
        </p:spPr>
      </p:pic>
      <p:pic>
        <p:nvPicPr>
          <p:cNvPr id="6" name="Picture 5" descr="04_post_uploads_comple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21208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  <a:latin typeface="Segoe UI"/>
              </a:defRPr>
            </a:pPr>
            <a:r>
              <a:t>עיקרי פרוטוקול ההעלאה הדו-שלבי: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שלב 1 (אתחול - 03): אימות סכמת מטא-דאטה, יצירת סשן UPLOAD#{id} ב-DynamoDB עם TTL ל-24 שעות, והנפקת קישור חתום S3 Presigned PUT ל-15 דקות.</a:t>
            </a:r>
            <a:br/>
            <a:r>
              <a:t>• העברה ישירה: הלקוח מזרים את הקובץ ישירות ל-S3 ללא מעבר ב-API Gateway או Lambda.</a:t>
            </a:r>
            <a:br/>
            <a:r>
              <a:t>• שלב 2 (השלמה - 04): ה-Lambda מאמת את הקובץ שהועלה (HeadObject), כותב את ה-Annotation ל-S3, מעדכן את הסשן ומפעיל את מצביע המסמך ב-DynamoDB.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12 מתוך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רצפי הרצת ממשקים (API SEQUENCES)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פירוט תהליך רצף: ביטול העלאה ושליפת פרטי מסמך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תהליכי רצף 05 ו-06: DELETE /v1/uploads/{id} ו-GET /v1/documents/{id}</a:t>
            </a:r>
          </a:p>
        </p:txBody>
      </p:sp>
      <p:pic>
        <p:nvPicPr>
          <p:cNvPr id="5" name="Picture 4" descr="05_delete_uploads_canc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12080" cy="3474720"/>
          </a:xfrm>
          <a:prstGeom prst="rect">
            <a:avLst/>
          </a:prstGeom>
        </p:spPr>
      </p:pic>
      <p:pic>
        <p:nvPicPr>
          <p:cNvPr id="6" name="Picture 5" descr="06_get_documents_document_i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21208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עיקרי תהליכי הביטול והשליפה המהירה: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ביטול העלאה (05): מעדכן את סשן ההעלאה ב-DynamoDB לסטטוס ABORTED ומנקה קבצי Staging שלא הושלמו מ-S3 למניעת צבירת קבצים יתומים.</a:t>
            </a:r>
            <a:br/>
            <a:r>
              <a:t>• שליפת מצביע מסמך (06): קריאה אולטרה-מהירה O(1) בעקביות מלאה מ-DynamoDB. מחזירה מספר גרסה פעילה, מזהה גרסת S3, סטטוס ומונה עדכוני מטא-דאטה בפחות מ-10ms.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13 מתוך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רצפי הרצת ממשקים (API SEQUENCES)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פירוט תהליך רצף: היסטוריית גרסאות ועדכון קובץ בינארי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תהליכי רצף 07 ו-08: GET /v1/documents/{id}/versions ו-POST /v1/documents/{id}/versions</a:t>
            </a:r>
          </a:p>
        </p:txBody>
      </p:sp>
      <p:pic>
        <p:nvPicPr>
          <p:cNvPr id="5" name="Picture 4" descr="07_get_documents_vers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12080" cy="3474720"/>
          </a:xfrm>
          <a:prstGeom prst="rect">
            <a:avLst/>
          </a:prstGeom>
        </p:spPr>
      </p:pic>
      <p:pic>
        <p:nvPicPr>
          <p:cNvPr id="6" name="Picture 5" descr="08_post_documents_versio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21208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84FC"/>
                </a:solidFill>
                <a:latin typeface="Segoe UI"/>
              </a:defRPr>
            </a:pPr>
            <a:r>
              <a:t>מנגנון שרשרת הגרסאות ועדכון תוכן בינארי: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שליפת היסטוריית גרסאות (07): שאילתת DynamoDB מהירה (pk = DOC#{id} AND begins_with(sk, 'VER#')) המחזירה את כל היסטוריית הגרסאות ללא צורך ב-ListObjects איטי ב-S3.</a:t>
            </a:r>
            <a:br/>
            <a:r>
              <a:t>• העלאת גרסה בינארית חדשה (08): העלאת קובץ חדש לאותו מפתח S3, יצירת VersionId חדש, קידום application_version (למשל 1 ← 2), איפוס מונה המטא-דאטה ל-1, ורישום רשומת VER# חדשה ב-DynamoDB.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14 מתוך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רצפי הרצת ממשקים (API SEQUENCES)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פירוט תהליך רצף: גרסאות היסטוריות ושליפת מטא-דאטה מוסמך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תהליכי רצף 09 ו-10: GET /v1/documents/{id}/versions/{v} ו-GET /v1/documents/{id}/metadata</a:t>
            </a:r>
          </a:p>
        </p:txBody>
      </p:sp>
      <p:pic>
        <p:nvPicPr>
          <p:cNvPr id="5" name="Picture 4" descr="09_get_documents_version_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12080" cy="3474720"/>
          </a:xfrm>
          <a:prstGeom prst="rect">
            <a:avLst/>
          </a:prstGeom>
        </p:spPr>
      </p:pic>
      <p:pic>
        <p:nvPicPr>
          <p:cNvPr id="6" name="Picture 5" descr="10_get_documents_metadat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21208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שליפת מידע היסטורי ומטא-דאטה מוסמך מ-S3: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פרטי גרסה היסטורית (09): שליפת רשומת הגרסה ההיסטורית (pk = DOC#{id}, sk = VER#{padded_version}) מ-DynamoDB, הכוללת גודל קובץ, Checksum ומזהה S3 VersionId המקורי.</a:t>
            </a:r>
            <a:br/>
            <a:r>
              <a:t>• שליפת מטא-דאטה מוסמך (10): איתור מצביע הגרסה הפעילה מ-DynamoDB ושליפת ה-Annotation המלא והמוסמך ישירות מגרסת אובייקט ה-S3 באמצעות GetObjectAnnotation.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15 מתוך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רצפי הרצת ממשקים (API SEQUENCES)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פירוט תהליך רצף: עדכון מטא-דאטה בבקרת מקביליות אופטימית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תהליך רצף 11: PATCH /v1/documents/{id}/metadata — מניעת מרוצים ודריסות</a:t>
            </a:r>
          </a:p>
        </p:txBody>
      </p:sp>
      <p:pic>
        <p:nvPicPr>
          <p:cNvPr id="5" name="Picture 4" descr="11_patch_documents_metada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132320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508760"/>
            <a:ext cx="3413455" cy="4709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691640"/>
            <a:ext cx="30476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Segoe UI"/>
              </a:defRPr>
            </a:pPr>
            <a:r>
              <a:t>שלבי תהליך העדכון (OCC)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1. בדיקת גרסה ב-DynamoDB: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קריאה עקבית של DOC#{id} והשוואת expected_metadata_revision למונה הנוכחי (דחייה ב-409 במקרה של אי-התאמה).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2. שליפת ה-Annotation הקיים: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קריאת מסמך ה-JSON הקיים מגרסת ה-S3 באמצעות GetObjectAnnotation.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3. אימות סכמה וערכים אסורים: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דחיית כל ניסיון שינוי של שדות מערכתיים בלתי-הפיכים, קידום המונה ל-N+1 ואימות מלא מול Ajv.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4. כתיבת ה-Annotation ל-S3: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שמירת ה-JSON המעודכן ישירות ב-S3 באמצעות PutObjectAnnotationCommand.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5. עדכון מותנה ב-DynamoDB: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עדכון מונה הגרסה ב-DynamoDB עם תנאי ConditionExpression המבטיח אטומיות מוחלטת.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16 מתוך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רצפי הרצת ממשקים (API SEQUENCES)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פירוט תהליך רצף: הורדה ישירה, מחיקה לוגית ושחזור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תהליכי רצף 12, 13 ו-14: גישה ישירה לקבצים ומשילות מחזור חיים שאינה הרסנית</a:t>
            </a:r>
          </a:p>
        </p:txBody>
      </p:sp>
      <p:pic>
        <p:nvPicPr>
          <p:cNvPr id="5" name="Picture 4" descr="12_get_documents_downlo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12080" cy="3474720"/>
          </a:xfrm>
          <a:prstGeom prst="rect">
            <a:avLst/>
          </a:prstGeom>
        </p:spPr>
      </p:pic>
      <p:pic>
        <p:nvPicPr>
          <p:cNvPr id="6" name="Picture 5" descr="13_post_documents_soft_dele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21208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עיקרי תהליכי ההורדה, המחיקה הלוגית והשחזור: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הורדה מאובטחת ישירה (12): הפקת קישור זמני (15 דקות) S3 Presigned GET. הלקוח מוריד ישירות מ-S3 ללא עלויות תעבורה או עומס על ה-Lambda.</a:t>
            </a:r>
            <a:br/>
            <a:r>
              <a:t>• מחיקה לוגית מבוקרת (13): עדכון סטטוס 'SOFT_DELETED' ב-DynamoDB והסרת המסמך מאינדקס OpenSearch. קבצי ה-WORM וה-Annotations ב-S3 נשמרים ללא שינוי לעמידה ברגולציה ולצורך שחזור מהיר (14).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17 מתוך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שכבת נגזרות קריאה (DERIVED READ PROJECTIONS)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המרת פורמטים לפי דרישה ושכבת נגזרות (JPEG/PNG ל-PDF)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טרנספורמציה דינמית בזיכרון, שמירת נגזרות ב-S3 ושמירה על עקרון אי-ההשתנות (WORM)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32073" cy="342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66313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⚡ המרה בזיכרון (In-Memory)</a:t>
            </a:r>
          </a:p>
          <a:p>
            <a:pPr>
              <a:spcBef>
                <a:spcPts val="600"/>
              </a:spcBef>
              <a:defRPr sz="950" b="1">
                <a:solidFill>
                  <a:srgbClr val="FF9900"/>
                </a:solidFill>
                <a:latin typeface="Segoe UI"/>
              </a:defRPr>
            </a:pPr>
            <a:r>
              <a:t>מנוע TypeScript טהור: </a:t>
            </a:r>
            <a:r>
              <a:rPr sz="900">
                <a:solidFill>
                  <a:srgbClr val="94A3B8"/>
                </a:solidFill>
                <a:latin typeface="Segoe UI"/>
              </a:rPr>
              <a:t>שימוש בספריית pdf-lib לעיבוד מהיר בזיכרון ללא צורך בבינאריים כבדים (ImageMagick/Ghostscript).</a:t>
            </a:r>
          </a:p>
          <a:p>
            <a:pPr>
              <a:spcBef>
                <a:spcPts val="600"/>
              </a:spcBef>
              <a:defRPr sz="950" b="1">
                <a:solidFill>
                  <a:srgbClr val="FF9900"/>
                </a:solidFill>
                <a:latin typeface="Segoe UI"/>
              </a:defRPr>
            </a:pPr>
            <a:r>
              <a:t>מעבדי AWS Graviton ARM64: </a:t>
            </a:r>
            <a:r>
              <a:rPr sz="900">
                <a:solidFill>
                  <a:srgbClr val="94A3B8"/>
                </a:solidFill>
                <a:latin typeface="Segoe UI"/>
              </a:rPr>
              <a:t>ביצוע בתוך פונקציות ה-Lambda הקיימות בזמן של כ-120 מילישניות בלבד.</a:t>
            </a:r>
          </a:p>
          <a:p>
            <a:pPr>
              <a:spcBef>
                <a:spcPts val="600"/>
              </a:spcBef>
              <a:defRPr sz="950" b="1">
                <a:solidFill>
                  <a:srgbClr val="FF9900"/>
                </a:solidFill>
                <a:latin typeface="Segoe UI"/>
              </a:defRPr>
            </a:pPr>
            <a:r>
              <a:t>קריאה פשוטה בממשק: </a:t>
            </a:r>
            <a:r>
              <a:rPr sz="900">
                <a:solidFill>
                  <a:srgbClr val="94A3B8"/>
                </a:solidFill>
                <a:latin typeface="Segoe UI"/>
              </a:rPr>
              <a:t>הפעלה שקופה באמצעות פרמטר `?format=pdf` בממשקי שליפת מסמך, גרסה והורדה.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9353" y="1508760"/>
            <a:ext cx="3332073" cy="342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2233" y="1691640"/>
            <a:ext cx="2966313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Segoe UI"/>
              </a:defRPr>
            </a:pPr>
            <a:r>
              <a:t>🔒 שמירת נגזרות ומעקב שושלת</a:t>
            </a:r>
          </a:p>
          <a:p>
            <a:pPr>
              <a:spcBef>
                <a:spcPts val="600"/>
              </a:spcBef>
              <a:defRPr sz="950" b="1">
                <a:solidFill>
                  <a:srgbClr val="34D399"/>
                </a:solidFill>
                <a:latin typeface="Segoe UI"/>
              </a:defRPr>
            </a:pPr>
            <a:r>
              <a:t>נתיב S3 דטרמיניסטי: </a:t>
            </a:r>
            <a:r>
              <a:rPr sz="900">
                <a:solidFill>
                  <a:srgbClr val="94A3B8"/>
                </a:solidFill>
                <a:latin typeface="Segoe UI"/>
              </a:rPr>
              <a:t>שמירה תחת `derivatives/{class}/{id}/{s3_version_id}.pdf` לזיהוי מיידי בקריאות חוזרות.</a:t>
            </a:r>
          </a:p>
          <a:p>
            <a:pPr>
              <a:spcBef>
                <a:spcPts val="600"/>
              </a:spcBef>
              <a:defRPr sz="950" b="1">
                <a:solidFill>
                  <a:srgbClr val="34D399"/>
                </a:solidFill>
                <a:latin typeface="Segoe UI"/>
              </a:defRPr>
            </a:pPr>
            <a:r>
              <a:t>שמירה על קודש הקודשים (WORM): </a:t>
            </a:r>
            <a:r>
              <a:rPr sz="900">
                <a:solidFill>
                  <a:srgbClr val="94A3B8"/>
                </a:solidFill>
                <a:latin typeface="Segoe UI"/>
              </a:rPr>
              <a:t>המרת פורמט לעולם אינה מייצרת גרסת מסמך חדשה או משנה את מצביעי DynamoDB.</a:t>
            </a:r>
          </a:p>
          <a:p>
            <a:pPr>
              <a:spcBef>
                <a:spcPts val="600"/>
              </a:spcBef>
              <a:defRPr sz="950" b="1">
                <a:solidFill>
                  <a:srgbClr val="34D399"/>
                </a:solidFill>
                <a:latin typeface="Segoe UI"/>
              </a:defRPr>
            </a:pPr>
            <a:r>
              <a:t>תגיות מקור במטא-דאטה: </a:t>
            </a:r>
            <a:r>
              <a:rPr sz="900">
                <a:solidFill>
                  <a:srgbClr val="94A3B8"/>
                </a:solidFill>
                <a:latin typeface="Segoe UI"/>
              </a:rPr>
              <a:t>תגיות S3 User Metadata (`x-amz-meta-origin-s3-version-id`) מתעדות את גרסת המקור המדויקת.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7186" y="1508760"/>
            <a:ext cx="3332073" cy="342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0066" y="1691640"/>
            <a:ext cx="2966313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084FC"/>
                </a:solidFill>
                <a:latin typeface="Segoe UI"/>
              </a:defRPr>
            </a:pPr>
            <a:r>
              <a:t>💰 יעילות כלכלית ומחזור חיים</a:t>
            </a:r>
          </a:p>
          <a:p>
            <a:pPr>
              <a:spcBef>
                <a:spcPts val="600"/>
              </a:spcBef>
              <a:defRPr sz="950" b="1">
                <a:solidFill>
                  <a:srgbClr val="C084FC"/>
                </a:solidFill>
                <a:latin typeface="Segoe UI"/>
              </a:defRPr>
            </a:pPr>
            <a:r>
              <a:t>מחיקה אוטומטית כעבור 14 יום: </a:t>
            </a:r>
            <a:r>
              <a:rPr sz="900">
                <a:solidFill>
                  <a:srgbClr val="94A3B8"/>
                </a:solidFill>
                <a:latin typeface="Segoe UI"/>
              </a:rPr>
              <a:t>כלל S3 Lifecycle Rule מוחק נגזרות זמניות אוטומטית למניעת ניפוח עלויות אחסון.</a:t>
            </a:r>
          </a:p>
          <a:p>
            <a:pPr>
              <a:spcBef>
                <a:spcPts val="600"/>
              </a:spcBef>
              <a:defRPr sz="950" b="1">
                <a:solidFill>
                  <a:srgbClr val="C084FC"/>
                </a:solidFill>
                <a:latin typeface="Segoe UI"/>
              </a:defRPr>
            </a:pPr>
            <a:r>
              <a:t>שיעור פגיעה ב-Cache של 80%+: </a:t>
            </a:r>
            <a:r>
              <a:rPr sz="900">
                <a:solidFill>
                  <a:srgbClr val="94A3B8"/>
                </a:solidFill>
                <a:latin typeface="Segoe UI"/>
              </a:rPr>
              <a:t>קריאות חוזרות מקבלות ישירות קישור Presigned ל-S3 ללא צורך בחישוב מחדש.</a:t>
            </a:r>
          </a:p>
          <a:p>
            <a:pPr>
              <a:spcBef>
                <a:spcPts val="600"/>
              </a:spcBef>
              <a:defRPr sz="950" b="1">
                <a:solidFill>
                  <a:srgbClr val="C084FC"/>
                </a:solidFill>
                <a:latin typeface="Segoe UI"/>
              </a:defRPr>
            </a:pPr>
            <a:r>
              <a:t>חיסכון מעבדי Graviton: </a:t>
            </a:r>
            <a:r>
              <a:rPr sz="900">
                <a:solidFill>
                  <a:srgbClr val="94A3B8"/>
                </a:solidFill>
                <a:latin typeface="Segoe UI"/>
              </a:rPr>
              <a:t>ארכיטקטורת ARM64 מספקת ביצועים גבוהים יותר ועלות נמוכה ב-20% לעומת x86.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  <a:latin typeface="Segoe UI"/>
              </a:defRPr>
            </a:pPr>
            <a:r>
              <a:t>זרימת שירות מקצה לקצה: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1. לקוח מבצע `GET /documents/{id}?format=pdf` ← 2. ה-Lambda בודקת קיום ב-Cache ← 3. במקרה של החטאה (Miss): קריאת תמונת המקור, המרה בזיכרון ב-Graviton, כתיבת נגזרת ל-S3 ← 4. החזרת קישור Presigned מאובטח להורדת ה-PDF.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18 מתוך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רצפי הרצת ממשקים (API SEQUENCES)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פירוט תהליך רצף: חיפוש טקסטואלי ובדיקת בריאות עמוקה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תהליכי רצף 15 ו-01: POST /v1/search ו-GET /health</a:t>
            </a:r>
          </a:p>
        </p:txBody>
      </p:sp>
      <p:pic>
        <p:nvPicPr>
          <p:cNvPr id="5" name="Picture 4" descr="15_post_se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12080" cy="3474720"/>
          </a:xfrm>
          <a:prstGeom prst="rect">
            <a:avLst/>
          </a:prstGeom>
        </p:spPr>
      </p:pic>
      <p:pic>
        <p:nvPicPr>
          <p:cNvPr id="6" name="Picture 5" descr="01_get_healt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21208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84FC"/>
                </a:solidFill>
                <a:latin typeface="Segoe UI"/>
              </a:defRPr>
            </a:pPr>
            <a:r>
              <a:t>עיקרי מנוע החיפוש ובדיקות הבריאות: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חיפוש OpenSearch Serverless (15): שאילתות טקסט מלא, סינונים לפי שדות מטא-דאטה, תאריכים וסטטוס מסמך בזמני תגובה של מילישניות בודדות.</a:t>
            </a:r>
            <a:br/>
            <a:r>
              <a:t>• בדיקת בריאות מעמיקה (01): בודקת סינכרונית את זמינות DynamoDB, S3 ו-OpenSearch ומחזירה תמונת מצב תפעולית מלאה עבור מערכות ניטור ו-Load Balancers.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19 מתוך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רצפי הרצת ממשקים (API SEQUENCES)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פירוט תהליך רצף: ייצוא חבילות מסמכים ב-ZIP והוספת עמודים ל-PDF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תהליכי רצף 17 ו-18: POST /v1/documents/batch-download ו-POST /v1/documents/{id}/pages</a:t>
            </a:r>
          </a:p>
        </p:txBody>
      </p:sp>
      <p:pic>
        <p:nvPicPr>
          <p:cNvPr id="5" name="Picture 4" descr="17_post_documents_batch_downlo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4242"/>
            <a:ext cx="5212080" cy="3203756"/>
          </a:xfrm>
          <a:prstGeom prst="rect">
            <a:avLst/>
          </a:prstGeom>
        </p:spPr>
      </p:pic>
      <p:pic>
        <p:nvPicPr>
          <p:cNvPr id="6" name="Picture 5" descr="18_post_documents_pag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4242"/>
            <a:ext cx="5212080" cy="32037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  <a:latin typeface="Segoe UI"/>
              </a:defRPr>
            </a:pPr>
            <a:r>
              <a:t>עיקרי ייצוא אצוות ושינוי בינארי מבוקר (WORM):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ייצוא אצוות ZIP מרובת מסמכים (17): משיכה מקבילית של קבצים מ-S3, אריזה מהירה בזיכרון בתוספת קובץ ביקורת manifest.json, שמירת ה-ZIP ב-S3 (תוקף 14 יום) והחזרת קישור Presigned ל-15 דקות ללא פגיעה בסמכות המקור.</a:t>
            </a:r>
            <a:br/>
            <a:r>
              <a:t>• הוספת עמודים לקובץ PDF קיים (18): מיזוג דפים בזיכרון באמצעות ספריית pdf-lib על גבי Graviton ARM64, שמירת התוצאה כגרסה חדשה לחלוטין (S3 VersionId חדש), ועדכון אטומי של מספר הגרסה וסך העמודים ב-DynamoDB OCC.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20 מתוך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בינה מלאכותית וסוכני BEDROCK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פירוט תהליך רצף: סוכן שיחה מבוסס AI והשלמת מטא-דאטה מקדימה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תהליכי רצף 19 ו-20: POST /v1/agent/chat ו-POST /v1/metadata/suggest (Amazon Bedrock Nova 2 Lite)</a:t>
            </a:r>
          </a:p>
        </p:txBody>
      </p:sp>
      <p:pic>
        <p:nvPicPr>
          <p:cNvPr id="5" name="Picture 4" descr="19_post_agent_ch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4242"/>
            <a:ext cx="5212080" cy="3203756"/>
          </a:xfrm>
          <a:prstGeom prst="rect">
            <a:avLst/>
          </a:prstGeom>
        </p:spPr>
      </p:pic>
      <p:pic>
        <p:nvPicPr>
          <p:cNvPr id="6" name="Picture 5" descr="20_post_metadata_sugg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30015"/>
            <a:ext cx="5212080" cy="303220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עיקרי שילוב Amazon Bedrock Nova 2 Lite: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סוכן שיחה מסייע למסמכים (19): פועל באמצעות Bedrock AgentCore וכלי MCP ייעודיים (חיפוש, שליפת מטא-דאטה, הורדה). אוכף הקשר והרשאות RBAC, ממיר יחידות כספיות בדיוק נטול נקודה צפה, ומצטט מספרי מסמך וגרסה רשמיים.</a:t>
            </a:r>
            <a:br/>
            <a:r>
              <a:t>• חילוץ מטא-דאטה מולטימודלי (20): ניתוח תוכן בינארי (PDF/תמונה) באמצעות Bedrock Nova 2 Lite, חילוץ ישויות בנקאיות מדויקות על פי סכמת ה-JSON וחישוב מדדי ביטחון לטובת מילוי טפסים מהיר בפורטל.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21 מתוך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רגולציה, ביקורת והעשרת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פירוט תהליך רצף: תחקור יומן ביקורת מאוחד והעשרת מטא-דאטה מונעת אירועים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תהליכי רצף 21 ו-22: GET /v1/documents/{id}/audit וצינור העשרה אסינכרוני (LLM &amp; PII Ratchet)</a:t>
            </a:r>
          </a:p>
        </p:txBody>
      </p:sp>
      <p:pic>
        <p:nvPicPr>
          <p:cNvPr id="5" name="Picture 4" descr="21_get_documents_aud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20077"/>
            <a:ext cx="5212080" cy="3052085"/>
          </a:xfrm>
          <a:prstGeom prst="rect">
            <a:avLst/>
          </a:prstGeom>
        </p:spPr>
      </p:pic>
      <p:pic>
        <p:nvPicPr>
          <p:cNvPr id="6" name="Picture 5" descr="22_async_llm_metadata_enrichm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4242"/>
            <a:ext cx="5212080" cy="32037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שקיפות רגולטורית ומנגנון אבטחה ללא שנמוך (Non-Downgrade Ratchet):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תחקור יומן ביקורת מאוחד (21): שליפה ישירה מ-S3 Audit Bucket של רשומות WORM בלתי-ניתנות לשינוי עם דפדוף מבוסס Cursor, המאפשרות שחזור היסטוריית שינויים מלאה ומאומתת עבור גופי רגולציה.</a:t>
            </a:r>
            <a:br/>
            <a:r>
              <a:t>• צינור העשרה אסינכרוני מבוסס אירועים (22): תור SQS ייעודי קולט שינויי DynamoDB CDC, מפעיל עובד רקע המנתח את המסמך מול Bedrock Nova 2 Lite לזיהוי ישויות ומידע רגיש (PII), מעדכן ב-DynamoDB OCC, ואוסר שנמוך סיווג אבטחה.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22 מתוך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ארכיטקטורת ממשק משתמש ואינטגרציה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פורטל אינטרנט Serverless וארכיטקטורת אינטגרציית לקוחות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CloudFront + S3 SPA, אימות מאובטח ב-Cognito JWT וחישוב SHA-256 בצד הלקוח</a:t>
            </a:r>
          </a:p>
        </p:txBody>
      </p:sp>
      <p:pic>
        <p:nvPicPr>
          <p:cNvPr id="5" name="Picture 4" descr="ui_backend_integr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315200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508760"/>
            <a:ext cx="3230575" cy="4709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691640"/>
            <a:ext cx="286481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  <a:latin typeface="Segoe UI"/>
              </a:defRPr>
            </a:pPr>
            <a:r>
              <a:t>עיקרי האינטגרציה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סימולטור תפקידים בקליק: </a:t>
            </a:r>
            <a:r>
              <a:rPr sz="850">
                <a:solidFill>
                  <a:srgbClr val="94A3B8"/>
                </a:solidFill>
                <a:latin typeface="Segoe UI"/>
              </a:rPr>
              <a:t>יצירת טוקנים מיידית לבדיקת הרשאות Admin, Writer, Reader וקצין ציות.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חתימת בקשות אוטומטית: </a:t>
            </a:r>
            <a:r>
              <a:rPr sz="850">
                <a:solidFill>
                  <a:srgbClr val="94A3B8"/>
                </a:solidFill>
                <a:latin typeface="Segoe UI"/>
              </a:rPr>
              <a:t>החתמת כל קריאות ה-HTTP בטוקני Cognito OAuth 2.0 / OIDC JWT.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ממשק העלאה דו-ערוצי: </a:t>
            </a:r>
            <a:r>
              <a:rPr sz="850">
                <a:solidFill>
                  <a:srgbClr val="94A3B8"/>
                </a:solidFill>
                <a:latin typeface="Segoe UI"/>
              </a:rPr>
              <a:t>תמיכה שקופה בהעלאה ישירה בקישור S3 או העלאה מהירה של קבצים קטנים.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אספקת PDF לפי דרישה: </a:t>
            </a:r>
            <a:r>
              <a:rPr sz="850">
                <a:solidFill>
                  <a:srgbClr val="94A3B8"/>
                </a:solidFill>
                <a:latin typeface="Segoe UI"/>
              </a:rPr>
              <a:t>כפתור הורדה דינמי להמרת תמונות JPEG/PNG ל-PDF בזמן אמת.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חקר נתונים בזמן אמת: </a:t>
            </a:r>
            <a:r>
              <a:rPr sz="850">
                <a:solidFill>
                  <a:srgbClr val="94A3B8"/>
                </a:solidFill>
                <a:latin typeface="Segoe UI"/>
              </a:rPr>
              <a:t>ממשק חיפוש מהיר עם סינונים דינמיים מול OpenSearch Serverless.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23 מתוך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אבטחת מידע ומשילות הרשאות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מטריצת הרשאות RBAC, הצפנת נתונים ובקרת WORM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אכיפת הרשאות קשיחה ב-Cognito, מפתחות הצפנה ייעודיים ב-KMS ומשילות רגולטורית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אכיפת מטריצת הרשאות (Cognito RBAC Matrix)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57400"/>
          <a:ext cx="51206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31520"/>
                <a:gridCol w="731520"/>
                <a:gridCol w="731520"/>
                <a:gridCol w="731520"/>
              </a:tblGrid>
              <a:tr h="436880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50" b="1">
                          <a:solidFill>
                            <a:srgbClr val="FF9900"/>
                          </a:solidFill>
                          <a:latin typeface="Segoe UI"/>
                        </a:defRPr>
                      </a:pPr>
                      <a:r>
                        <a:t>פעולה במערכת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Reader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Writer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Editor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Admin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436880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POST /v1/documents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436880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GET /v1/documents/{id}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36880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GET /v1/download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436880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POST /versions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36880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PATCH /metadata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436880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POST /soft-delete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36880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POST /restore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436880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POST /search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0" y="1554480"/>
            <a:ext cx="505937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737360"/>
            <a:ext cx="46021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הצפנה ארגונית ובקרת WORM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מפתח הצפנה ייעודי ב-AWS KMS (CMK):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מפתח מרכזי (alias/doc-platform-mvp) עם רוטציה שנתית אוטומטית להצפנת דליי S3, טבלאות DynamoDB, תורי SQS ולוגים.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מדיניות אי-מחיקה מוחלטת (WORM):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חסימה מפורשת s3:DeleteObjectVersion DENY בכלל מדיניות ה-IAM. אין אפשרות לדרוס או למחוק קבצים בינאריים מקוריים.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אפס חשיפה ציבורית ב-S3: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חסימת גישה ציבורית מלאה (S3 Block Public Access) ואכיפת TLS 1.2+ בהצפנה במעבר (In-Transit).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תפקידי IAM מבודדים (Micro-Perimeter):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לכל פונקציית Lambda תפקיד IAM ייעודי המגביל את פעולותיה לרכיבים הנדרשים בלבד.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24 מתוך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ארכיטקטורת פריסה ותשתית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תשתית כקוד (IaC): 10 Stacks מודולריים ב-AWS CDK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טופולוגיית TypeScript CloudFormation דטרמיניסטית, תיוג גלובלי ואפס תלויות מעגליות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8412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1. SecurityStack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משאבים: Cognito User Pool, App Client &amp; KMS CMK Key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תפקיד: מנהל את ספריית המשתמשים, קבוצות ה-RBAC ומפתח ההצפנה המרכזי.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554480"/>
            <a:ext cx="5212080" cy="8412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5255" y="164592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2. StorageStack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משאבים: S3 Primary Document Bucket &amp; S3 Audit Bucket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תפקיד: מגדיר גרסאות, מדיניות הצפנה, CORS ומדיניות נעילת WORM.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87168"/>
            <a:ext cx="5212080" cy="8412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7860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84FC"/>
                </a:solidFill>
                <a:latin typeface="Segoe UI"/>
              </a:defRPr>
            </a:pPr>
            <a:r>
              <a:t>3. SearchStack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משאבים: OpenSearch Serverless Collection (documents-v1)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תפקיד: מקים את אוסף החיפוש הוקטורי, מדיניות הצפנה ואבטחת רשת.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2487168"/>
            <a:ext cx="5212080" cy="8412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5255" y="257860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  <a:latin typeface="Segoe UI"/>
              </a:defRPr>
            </a:pPr>
            <a:r>
              <a:t>4. MessagingStack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משאבים: Amazon SQS Queues (אינדוקס + העשרת AI מבוססת Bedrock)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תפקיד: חוצץ אירועי CDC עם 3 ניסיונות חוזרים והתראות CloudWatch.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19856"/>
            <a:ext cx="5212080" cy="8412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11296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Segoe UI"/>
              </a:defRPr>
            </a:pPr>
            <a:r>
              <a:t>5. ControlPlaneStack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משאבים: DynamoDB Table (doc-platform-mvp-control)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תפקיד: טבלה מרכזית בטכנולוגיית Single-Table עם PITR ו-Streams פעילים.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3419856"/>
            <a:ext cx="5212080" cy="8412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5255" y="3511296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6. ComputeStack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משאבים: 21 פונקציות Graviton ARM64 AWS Lambda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תפקיד: פורס שירותי Command, Query, Search, Stream, Indexer ו-Enricher.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52544"/>
            <a:ext cx="5212080" cy="8412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43984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84FC"/>
                </a:solidFill>
                <a:latin typeface="Segoe UI"/>
              </a:defRPr>
            </a:pPr>
            <a:r>
              <a:t>7. AgentStack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משאבים: Amazon Bedrock Nova 2 Lite סוכן שיחה ו-Gateway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תפקיד: מנהל את תשתית הסוכן, כלי MCP ותשאול אינטראקטיבי.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8095" y="4352544"/>
            <a:ext cx="5212080" cy="8412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5255" y="4443984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8. ApiStack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משאבים: Amazon API Gateway REST API &amp; Cognito Authorizer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תפקיד: מחבר 20 נתיבים, מנגנון הרשאות, הגבלות קצב ו-CORS.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85232"/>
            <a:ext cx="5212080" cy="8412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3766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Segoe UI"/>
              </a:defRPr>
            </a:pPr>
            <a:r>
              <a:t>9. ServerlessFrontendStack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משאבים: CloudFront CDN (OAC) &amp; S3 Single Page App Bucket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תפקיד: הפצה גלובלית מהירה ומאובטחת של פורטל ה-SPA עם TLS 1.3.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095" y="5285232"/>
            <a:ext cx="5212080" cy="8412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5255" y="53766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10. ObservabilityStack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משאבים: התראות CloudWatch, לוחות בקרה ותיוג גלובלי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תפקיד: פורס התראות DLQ/5xx, לוחות בקרה תפעוליים ותגיות Project/Environment.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25 מתוך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תמצית מנהלים וערך אסטרטגי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סיכום אסטרטגי ותיעוד החלטות ארכיטקטורה (ADRs)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מדוע פתרון Serverless זה מספק שרידות מקסימלית, יעילות כלכלית ועמידה מלאה ברגולציה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1. אפס עלויות סרק (Zero Idle TCO)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154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עלויות המערכת נגזרות ישירות מנפח השימוש בפועל. סביבות פיתוח ובדיקה עולות $0 בעת חוסר פעילות, וחוסכות מיליוני דולרים ברישוי.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08760"/>
            <a:ext cx="342900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6459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2. שרידות WORM בלתי-מוגבלת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011680"/>
            <a:ext cx="3154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שרידות של 11 תשיעיות ב-S3 יחד עם ניהול גרסאות קשיח ומדיניות IAM Deny מבטיחים הגנה מלאה מפני תוכנות כופר ומחיקות שגויות.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508760"/>
            <a:ext cx="342900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6459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84FC"/>
                </a:solidFill>
                <a:latin typeface="Segoe UI"/>
              </a:defRPr>
            </a:pPr>
            <a:r>
              <a:t>3. בידוד מוחלט של מרחב הכשל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2011680"/>
            <a:ext cx="3154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ארכיטקטורת אחסון CQRS מבוזרת מבטיחה שבנייה מחדש של אינדקס החיפוש לעולם לא תשבית העלאה, עריכה או הורדה של מסמכים.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3246120"/>
          <a:ext cx="10728655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2560320"/>
                <a:gridCol w="3322015"/>
              </a:tblGrid>
              <a:tr h="49530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FF9900"/>
                          </a:solidFill>
                          <a:latin typeface="Segoe UI"/>
                        </a:defRPr>
                      </a:pPr>
                      <a:r>
                        <a:t>החלטה ארכיטקטונית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הגישה שנבחרה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חלופות שנדחו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הנמקה אסטרטגית מרכזית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49530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מודל אחסון מטא-דאטה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S3 Native Annotations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כותרות S3 (2KB) / קבצי Sidecar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עוקף מגבלת 2KB, מונע שכפול קבצים ומוכן לשאילתות SQL ישירות.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49530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טבלת בקרת טרנזקציות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DynamoDB Single-Table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Aurora PostgreSQL / DocumentDB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מהירות תגובה של מילישניות בודדות, בקרת מקביליות אופטימית ואפס תחזוקת שרתים.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9530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טופולוגיית מנוע החיפוש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OpenSearch Serverless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Elasticsearch על EC2 / קלאסטר מנוהל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ללא צורך בניהול גודל שרתים, התרחבות OCU אוטומטית ואימות IAM SigV4.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49530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טרנספורמציית פורמטים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המרת PDF לפי דרישה (14d S3 Cache)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המרה מראש של כל הקבצים / אחסון קבוע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ביצוע בזיכרון על Graviton ARM64, מחיקה אוטומטית כעבור 14 יום, שושלת WORM נשמרת.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9530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אימות סכמות מטא-דאטה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GitOps מהודר מראש (Ajv בזיכרון)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שליפת סכמות מ-DB בעליית Lambda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אפס תקורה בעליית פונקציה (Cold Start) ובקרת קוד קפדנית ב-Pull Requests.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פלטפורמת ניהול מסמכים ארגונית ב-AWS | ארכיטקטורת Serverless ו-WORM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18589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שקף 26 מתוך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