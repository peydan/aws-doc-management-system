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ארכיטקטורת פתרון ארגוני ב-AWS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פלטפורמת ניהול מסמכים ארגונית בענן (Cloud-Native)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ארכיטקטורת Serverless מבוזרת, מודל סמכות משולש (Tri-Partite Source of Truth), אימות WORM ועמידה בתקני רגולציה מחמירים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100%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חיסכון מלא בעלויות סרק: S3, DynamoDB On-Demand, Lambda, SQS ו-OpenSearch Serverless ללא שרתים מנוהלים.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מודל סמכות משולש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הפרדה חדה בין תוכן בינארי (S3), מטא-דאטה מובנה (S3 Annotations), ומנוע בקרה (DynamoDB OCC).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זמני תגובה מהירים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קליטת קבצים ב-~150ms, שאילתות DynamoDB ב-sub-10ms, והורדות ישירות מ-S3 ב-sub-50ms.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אבטחה וביקורת 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הצפנת KMS ייעודית, בקרת הרשאות RBAC ב-Cognito, יומן ביקורת בלתי-הפיך ותיוג משאבים מלא.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 מתוך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ערך אסטרטגי והקשר עסקי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תמצית מנהלים וארכיטקטורת על של הפתרון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מודרניזציה של ניהול תוכן ארגוני באמצעות שירותי Serverless מבוזרים וחסרי שרתים בענן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עקרונות ליבה בארכיטקטורה הארגונית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אלסטיות מבוססת צריכה בפועל: </a:t>
            </a:r>
            <a:r>
              <a:rPr b="0">
                <a:solidFill>
                  <a:srgbClr val="94A3B8"/>
                </a:solidFill>
              </a:rPr>
              <a:t>ארכיטקטורת Serverless מלאה מבטיחה אפס עלויות סרק בזמני מנוחה והתרחבות אוטומטית בעומסי שיא.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מודל סמכות מבוזר ומופרד: </a:t>
            </a:r>
            <a:r>
              <a:rPr b="0">
                <a:solidFill>
                  <a:srgbClr val="94A3B8"/>
                </a:solidFill>
              </a:rPr>
              <a:t>הפרדה בין אחסון קבצים, אינדוקס מטא-דאטה ומנוע חיפוש טקסטואלי מונעת נעילות מערכתיות וכשלים שרשרתיים.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S3 Object Annotations מובנה: </a:t>
            </a:r>
            <a:r>
              <a:rPr b="0">
                <a:solidFill>
                  <a:srgbClr val="94A3B8"/>
                </a:solidFill>
              </a:rPr>
              <a:t>ביטול מגבלת 2 KB של כותרות S3 ללא שימוש בקבצי Sidecar, תוך תמיכה מלאה בהתפתחות סכמות.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עמידה ברגולציית WORM ושקיפות ביקורת: </a:t>
            </a:r>
            <a:r>
              <a:rPr b="0">
                <a:solidFill>
                  <a:srgbClr val="94A3B8"/>
                </a:solidFill>
              </a:rPr>
              <a:t>אכיפת גרסאות קבצים בלתי-הפיכות, בקרת מקביליות אופטימית (OCC), ויומן ביקורת רציף ב-S3.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יכולות מרכזיות ותוצאות עסקיות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עלות בעלות כוללת (TCO) מינימלית: </a:t>
            </a:r>
            <a:r>
              <a:rPr b="0">
                <a:solidFill>
                  <a:srgbClr val="94A3B8"/>
                </a:solidFill>
              </a:rPr>
              <a:t>מודל תשלום לפי שימוש (Lambda, S3, DynamoDB, OpenSearch Serverless) ללא צורך בהקצאת שרתים יקרה מראש.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שרידות של 11 תשיעיות (11 9s): </a:t>
            </a:r>
            <a:r>
              <a:rPr b="0">
                <a:solidFill>
                  <a:srgbClr val="94A3B8"/>
                </a:solidFill>
              </a:rPr>
              <a:t>אחסון קבצים ב-Amazon S3 עם חסימת מחיקה מכוונת באמצעות מדיניות s3:DeleteObjectVersion DENY קשיחה.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זמני תגובה נמוכים במיוחד: </a:t>
            </a:r>
            <a:r>
              <a:rPr b="0">
                <a:solidFill>
                  <a:srgbClr val="94A3B8"/>
                </a:solidFill>
              </a:rPr>
              <a:t>העלאת קבצים רגילים ב-~150ms; קישורי הורדה ישירים ב-&lt;50ms; בקרת DynamoDB טרנזקציונית ב-sub-10ms.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בידוד מוחלט של מרחב הכשל (Blast Radius): </a:t>
            </a:r>
            <a:r>
              <a:rPr b="0">
                <a:solidFill>
                  <a:srgbClr val="94A3B8"/>
                </a:solidFill>
              </a:rPr>
              <a:t>תקלה זמנית במנוע החיפוש OpenSearch אינה מונעת העלאה, הורדה או עריכת מטא-דאטה של מסמכים.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 מתוך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טופולוגיית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תרשים ארכיטקטורת הפתרון המלאה (End-to-End)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Serverless מלאה ב-AWS: בקרת כניסה, שכבת מחשוב מבוזרת ושכבות אחסון מופרדות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הארכיטקטורה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שער ה-API (API Gateway):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ניתוב REST מאובטח, אימות JWT באמצעות Cognito, והעברת תוכן בינארי ישיר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מיקרו-שירותי Lambda מבודדים: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פונקציות פיקוד, שאילתה וחיפוש הפועלות תחת הרשאות IAM מינימליות (Least Privilege).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S3 Object Annotations מובנה: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מטא-דאטה מוסמך בפורמט JSON הצמוד ישירות לגרסת אובייקט ה-S3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טבלת בקרת מצב (DynamoDB):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טבלה מרכזית המנהלת מצבי מסמך (DOC#{id}), היסטוריית גרסאות וסשנים בריצת sub-10ms.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צינור עיבוד אסינכרוני (CDC):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זרמי DynamoDB מעבירים שינויים ליומן ביקורת ב-S3 ולתור SQS לאינדוקס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3 מתוך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משילות נתונים וסמכות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מודל הסמכות והעקביות ב-5 שכבות (5-Tier Authority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נעילות טרנזקציוניות מבוזרות באמצעות הגדרת גבולות סמכות ברורים לכל שירות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1. סמכות התוכן (Content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אחסון קבצים בינאריים בלתי-הפיך (PDF, TIFF, Office). ניהול גרסאות עם מדיניות נעילה s3:DeleteObjectVersion DENY לעמידה מלאה בתקני WORM. חתימות הצפנה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2. סמכות המטא-דאטה (Metadata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מטא-דאטה מלא ומובנה בפורמט JSON המאוחסן כ-Annotation רשמי (document-metadata) הצמוד ישירות לגרסת ה-S3 ומאומת עפ"י סכמת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3. סמכות הבקרה (Control Plane)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טבלת בקרת מצב המנהלת מצביעי מסמכים פעילים (DOC#{id}), היסטוריית גרסאות (VER#{pad}), נעילות אופטימיות (OCC) וסשנים בריצת sub-10ms.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4. היטל חיפוש נגזר (Search Read Projection)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מודל קריאה CQRS אסינכרוני המעודכן מזרמי DynamoDB דרך תור SQS. כשל בחיפוש אינו משפיע על העלאה, עריכה או הורדה של מסמכים.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5. שקיפות ביקורת (Non-Repudiation Audit)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יומן שינויים בלתי-הפיך המועבר אוטומטית לדלי ביקורת ייעודי ומוצפן ב-KMS בחלוקה לפי תאריכים לצרכי רגולציה וחקירה משפטית.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4 מתוך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נתונים מעמיקה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חלוקת תפקידים: S3 Annotations מול טבלת הבקרה ב-DynamoDB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נדרשים שני השירותים: פתרון מגבלות אחסון אובייקטים באמצעות מהירות של מסד נתונים טרנזקציוני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מימד ארכיטקטוני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טבלת הבקרה ב-DynamoDB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מדוע DynamoDB חיוני?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סמכות מטא-דאטה מלאה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עליונה (מכיל את ה-JSON המלא לפי סכמה)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שומר מצביע קל משקל, מונה עדכונים ו-ETag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מצמיד את המטא-דאטה ישירות לגרסת הקובץ ומאפשר שאילתות SQL באגם נתונים.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בקרת מקביליות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תמיכה בהתניות מורכבות על שדות JSON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אכיפה אטומית ConditionExpression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מוודא אטומית current_metadata_revision = :exp למניעת דריסת עדכונים מקבילים.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איתור מצביע פעיל O(1)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דורש סריקה איטית של כלל גרסאות האובייקט ב-Bucket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שליפת מפתח ישירה בפחות מ-10ms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ממפה DOC#{id} ישירות ל-s3_version_id העדכני ללא קריאות ListObjects איטיות.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היסטוריית גרסאות מסודרת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מזהי גרסאות ב-S3 אינם עוקבים ואינם קריאים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שליפה מהירה לפי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מאפשר שליפת היסטוריית גרסאות ממוינת (v1, v2, v3) בשאילתה אולטרה-מהירה אחת.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טרנזקציות רב-רכיביות (ACID)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מנגנון טרנזקציוני מובנה רב-אובייקטי ב-S3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TransactWriteItems אטומי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מעדכן אטומית את מצביע המסמך, רושם גרסה חדשה ונועל מזהה Idempotency בקריאה אחת.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קליטת שינויים רציפה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אירועי S3 אינם כוללים תמונת מצב לפני/אחרי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DynamoDB Streams מובנה ומסודר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פולט אירועים מסודרים המזינים אסינכרונית את יומן הביקורת ב-S3 ואת מנוע החיפוש OpenSearch.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5 מתוך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אירועים ו-CQRS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צינור עיבוד אסינכרוני (CDC) ואינדוקס חיפוש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הפרדה מונעת-אירועים: DynamoDB Streams ← יומן ביקורת ב-S3 ותור SQS ← אינדקס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שלבי מחזור החיים של עיבוד האירוע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ביצוע טרנזקציה ב-DynamoDB: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העלאה, גרסה חדשה, עריכת מטא-דאטה או מחיקה לוגית נרשמים ב-DynamoDB ופולטים אירוע ל-DynamoDB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מעבד האירועים (StreamProcessor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קולט אצוות אירועים בזמן אמת ומבצע שתי פעולות במקביל:</a:t>
            </a:r>
            <a:br/>
            <a:r>
              <a:t> • כותב רשומת ביקורת JSON בלתי-הפיכה ל-S3 Audit Bucket.</a:t>
            </a:r>
            <a:br/>
            <a:r>
              <a:t> • שולח הודעת אינדוקס לתור ה-SQS של מנוע החיפוש.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מנוע האינדוקס (SQS Indexer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מושך הודעות מ-SQS, קורא את ה-Annotation המוסמך מ-S3 ומעדכן את אינדקס החיפוש ב-OpenSearch Serverless.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בידוד כשלים ותור הודעות שגויות (DLQ):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במידה ו-OpenSearch אינו זמין זמנית, מתבצעים 3 ניסיונות חוזרים וההודעה מבודדת ב-DLQ תוך הפעלת התראת CloudWatch.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מבנה הודעת האינדוקס בתור SQS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יתרונות חוסן והתאוששות עצמית: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צריכה אידמפוטנטית: אינדוקס מוגן גרסאות מונע דריסה של אירועים שהגיעו שלא לפי הסדר.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שחזור מלא של אינדקס החיפוש: ניתן למחוק ולבנות מחדש 100% מאינדקס OpenSearch מתוך נתוני ה-S3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בידוד תקלות: השבתה של מנוע החיפוש אינה מפריעה להעלאות, הורדות או עריכת מטא-דאטה.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6 מתוך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ניהול גרסאות ומשילות מטא-דאטה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מעקב גרסאות תלת-שכבתי ומטריצת שינוי שדות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שלמות קריפטוגרפית, מעקב מצב מונוטוני ומשילות סכמות קפדנית ללא אובדן מידע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גרסת יישום לוגית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מספר שלם מונוטוני העולה אך ורק בהעלאת קובץ בינארי חדש (POST /versions). מאפס את מונה ה-revision ל-1.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גרסה פיזית ב-S3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מזהה גרסה קריפטוגרפי ובלתי-הפיך הנוצר אוטומטית ע"י S3 עבור הקובץ הבינארי המאוחסן ב-Bucket הראשי.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גרסת מטא-דאטה (OCC)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מונה עדכוני מטא-דאטה אופטימי העולה בכל עדכון (PATCH /metadata). נאכף אטומית ב-DynamoDB.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 (שם שדה)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קטגוריה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כלל שינוי (Mutability)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מנגנון עדכון ומשילות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זהות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בלתי-הפיך לחלוטין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מוקצה פעם אחת ביצירת המסמך. ניסיון שינוי נדחה בשגיאת 400 Bad Request.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format, page_count,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מפרט בינארי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בלתי-הפיך עבור הגרסה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צמוד קריפטוגרפית לקובץ (SHA-256). מתעדכן אך ורק בקריאת POST /versions או המרה ל-PDF.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מעקב מקביליות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מונוטוני אוטומטי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מנוהל אוטומטית ע"י פונקציית ה-Lambda ומנגנון ה-OCC ב-DynamoDB.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תכונות עסקיות ומשותפות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ניתן לעריכה (PATCH)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ניתן לעדכון ב-PATCH /metadata עם אימות סכמת JSON Schema ובדיקת מונה גרסה.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7 מתוך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בקרת מקביליות ומשילות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בקרת מקביליות אופטימית (OCC) והתפתחות סכמות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דריסת עדכונים בעומסים גבוהים ואימות סכמות JSON Schema מהיר בזיכרון (Ajv)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אלגוריתם ה-OCC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הלקוח מעביר גרסה צפויה: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הקריאה כוללת expected_metadata_revision: N יחד עם השדות המבוקשים לעדכון.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בדיקת עקביות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רשומת DOC#{id}. אם המונה אינו תואם בדיוק ל-N, הקריאה נדחית מיד בשגיאת 409 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שליפת ה-Annotation מ-S3 ומיזוג: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ה-JSON הקיים מ-S3, מוודא שאין שינוי בשדות אסורים, מעלה את המונה ל-N+1 ומאמת מול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שמירת ה-Annotation המעודכן ב-S3: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שמירה אטומית של ה-JSON המעודכן ישירות ב-S3 באמצעות PutObjectAnnotation.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עדכון מותנה אטומי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ביצוע עדכון מותנה (ConditionExpression: current_metadata_revision = :expRev). במידה והתרחש מרוץ מקבילי, הפעולה נכשלת.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משילות סכמות ואימות בשיטת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מחזור חיים מבוסס GitOps (אימות בזמן הידור):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אפס השהיית Cold Start: </a:t>
            </a:r>
            <a:r>
              <a:rPr b="0">
                <a:solidFill>
                  <a:srgbClr val="94A3B8"/>
                </a:solidFill>
              </a:rPr>
              <a:t>סכמות ה-JSON נארזות ישירות בקוד ה-Lambda ומהודרות לזיכרון בעלייה (Ajv Precompiled) ללא צורך בקריאות רשת.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הגדרת מעטפת סגורה: </a:t>
            </a:r>
            <a:r>
              <a:rPr b="0">
                <a:solidFill>
                  <a:srgbClr val="94A3B8"/>
                </a:solidFill>
              </a:rPr>
              <a:t>הגדרת additionalProperties: false מונעת זיהום נתונים ושינויי מבנה לא מבוקרים.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בקרת שינויים קפדנית ב-Git: </a:t>
            </a:r>
            <a:r>
              <a:rPr b="0">
                <a:solidFill>
                  <a:srgbClr val="94A3B8"/>
                </a:solidFill>
              </a:rPr>
              <a:t>כל עדכון סכמה דורש Pull Request, בדיקות linting אוטומטיות ותיעוד מלא.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שלב 2 במפת הדרכים: </a:t>
            </a:r>
            <a:r>
              <a:rPr b="0">
                <a:solidFill>
                  <a:srgbClr val="94A3B8"/>
                </a:solidFill>
              </a:rPr>
              <a:t>תמיכה עתידית ב-Schema Registry דינמי מבוסס DynamoDB להרשמת סכמות בזמן ריצה.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8 מתוך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קליטת מסמכים מתקדמת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ארכיטקטורת קליטה דו-ערוצית (Bimodal Ingestion)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אופטימיזציית זמני תגובה וביטול מגבלת 10 MiB של API Gateway עבור קבצים גדולים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ערוץ 1: העלאה ישירה בבקשה אחת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בקשת HTTP בודדת למסמכים רגילים, קבלות, טפסי הלוואה ותעודות זהות.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זמן תגובה כולל: מענה סינכרוני מהיר בתוך 120ms עד 250ms בלבד.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שמירה אטומית: שמירת הקובץ ב-S3, ה-Annotation ומצביע ה-DynamoDB בטרנזקציה אחת.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חוויית לקוח פשוטה: קריאת HTTP בודדת המחזירה קוד 201 Created עם מטא-דאטה מלא.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ערוץ 2: העלאה ישירה בקישור חתום ל-S3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פרוטוקול דו-שלבי המיועד לתיקי משכנתאות עבי כרס, סריקות וקבצי ענק.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שלב 1: POST /v1/documents/uploads</a:t>
            </a:r>
            <a:br/>
            <a:r>
              <a:t>  ← אימות סכמה ויצירת קישור S3 Presigned PUT ל-15 דקות.</a:t>
            </a:r>
            <a:br/>
            <a:r>
              <a:t>שלב 2: PUT {presigned_url}</a:t>
            </a:r>
            <a:br/>
            <a:r>
              <a:t>  ← הלקוח מזרים את הקובץ ישירות ל-S3 במהירות מקסימלית.</a:t>
            </a:r>
            <a:br/>
            <a:r>
              <a:t>שלב 3: POST /v1/uploads/{id}/complete</a:t>
            </a:r>
            <a:br/>
            <a:r>
              <a:t>  ← ה-Lambda מוודא תקינות, כותב Annotation ומפעיל את המסמך.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עקיפת מגבלת 10 MiB ב-API Gateway: תמיכה בקבצים עד גודל של עשרות גיגה-בייט.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אפס תקורת זיכרון ב-Lambda: שכבת המחשוב אינה מתווכת בנפח הקבצים עצמם.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ניקוי אוטומטי מבוסס TTL: סשנים שלא הושלמו מנוקים אוטומטית לאחר 24 שעות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9 מתוך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ממשקי API וחוזים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קטלוג ה-REST APIs המלא: 15 נקודות קצה ייעודיות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חלוקה פונקציונלית לקליטה, מחזור חיים, מטא-דאטה, הורדה מאובטחת וחיפוש מתקדם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מתודה ונתיב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שם הפעולה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רכיבי יעד מעורבים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תפקיד RBAC נדרש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סוג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בדיקת בריאות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פתוח / כל התפקידים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מסמך ישירה (Inline)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אתחול העלאה ישירה ל-S3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השלמת העלאה ישירה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ביטול סשן העלאה ישירה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מצביע מסמך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היסטוריית גרסאות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גרסה בינארית חדשה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גרסה היסטורית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מטא-דאטה מוסמך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עדכון מטא-דאטה (OCC)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קבלת קישור הורדה חתום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מחיקה לוגית (Soft Delete)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שחזור מסמך שנמחק לוגית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חיפוש טקסטואלי וסינון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ייצוא מקבץ מסמכים (ZIP)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JSZip, S3 Presign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10 מתוך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העלאת מסמך ישירה (Inline 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02: POST /v1/documents — שמירה אטומית בטרנזקציה אחת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פירוט שלבי הביצוע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בקרת כניסה ואימות: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מוודא את טוקן ה-JWT מול Cognito (דורש הרשאת Document.Writer או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אימות סכמה וחישוב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ה-Lambda מחשב SHA-256 על הקובץ ומאמת את מעטפת ה-JSON מול הסכמה בזיכרון (Ajv).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כתיבה ל-S3 והצמדת Annotation: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העלאת הקובץ ל-S3 והצמדת ה-Annotation המובנה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שמירה אטומית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ביצוע TransactWriteItems ליצירת מצביע DOC#{id}, גרסה VER#0000000001 ונעילת Idempotency.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פליטת אירוע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זרמי DynamoDB מפעילים אסינכרונית את מעבד האירועים לרישום ביקורת ואינדוקס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11 מתוך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העלאה ישירה בקישור חתום ל-S3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03 ו-04: POST /v1/documents/uploads ו-POST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עיקרי פרוטוקול ההעלאה הדו-שלבי: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שלב 1 (אתחול - 03): אימות סכמת מטא-דאטה, יצירת סשן UPLOAD#{id} ב-DynamoDB עם TTL ל-24 שעות, והנפקת קישור חתום S3 Presigned PUT ל-15 דקות.</a:t>
            </a:r>
            <a:br/>
            <a:r>
              <a:t>• העברה ישירה: הלקוח מזרים את הקובץ ישירות ל-S3 ללא מעבר ב-API Gateway או Lambda.</a:t>
            </a:r>
            <a:br/>
            <a:r>
              <a:t>• שלב 2 (השלמה - 04): ה-Lambda מאמת את הקובץ שהועלה (HeadObject), כותב את ה-Annotation ל-S3, מעדכן את הסשן ומפעיל את מצביע המסמך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12 מתוך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ביטול העלאה ושליפת פרטי מסמך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05 ו-06: DELETE /v1/uploads/{id} ו-GET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עיקרי תהליכי הביטול והשליפה המהירה: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ביטול העלאה (05): מעדכן את סשן ההעלאה ב-DynamoDB לסטטוס ABORTED ומנקה קבצי Staging שלא הושלמו מ-S3 למניעת צבירת קבצים יתומים.</a:t>
            </a:r>
            <a:br/>
            <a:r>
              <a:t>• שליפת מצביע מסמך (06): קריאה אולטרה-מהירה O(1) בעקביות מלאה מ-DynamoDB. מחזירה מספר גרסה פעילה, מזהה גרסת S3, סטטוס ומונה עדכוני מטא-דאטה בפחות מ-10ms.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13 מתוך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היסטוריית גרסאות ועדכון קובץ בינארי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07 ו-08: GET /v1/documents/{id}/versions ו-POST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מנגנון שרשרת הגרסאות ועדכון תוכן בינארי: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שליפת היסטוריית גרסאות (07): שאילתת DynamoDB מהירה (pk = DOC#{id} AND begins_with(sk, 'VER#')) המחזירה את כל היסטוריית הגרסאות ללא צורך ב-ListObjects איטי ב-S3.</a:t>
            </a:r>
            <a:br/>
            <a:r>
              <a:t>• העלאת גרסה בינארית חדשה (08): העלאת קובץ חדש לאותו מפתח S3, יצירת VersionId חדש, קידום application_version (למשל 1 ← 2), איפוס מונה המטא-דאטה ל-1, ורישום רשומת VER# חדשה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14 מתוך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גרסאות היסטוריות ושליפת מטא-דאטה מוסמך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09 ו-10: GET /v1/documents/{id}/versions/{v} ו-GET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שליפת מידע היסטורי ומטא-דאטה מוסמך מ-S3: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פרטי גרסה היסטורית (09): שליפת רשומת הגרסה ההיסטורית (pk = DOC#{id}, sk = VER#{padded_version}) מ-DynamoDB, הכוללת גודל קובץ, Checksum ומזהה S3 VersionId המקורי.</a:t>
            </a:r>
            <a:br/>
            <a:r>
              <a:t>• שליפת מטא-דאטה מוסמך (10): איתור מצביע הגרסה הפעילה מ-DynamoDB ושליפת ה-Annotation המלא והמוסמך ישירות מגרסת אובייקט ה-S3 באמצעות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15 מתוך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עדכון מטא-דאטה בבקרת מקביליות אופטימית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11: PATCH /v1/documents/{id}/metadata — מניעת מרוצים ודריסות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שלבי תהליך העדכון (OCC)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בדיקת גרסה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קריאה עקבית של DOC#{id} והשוואת expected_metadata_revision למונה הנוכחי (דחייה ב-409 במקרה של אי-התאמה).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שליפת ה-Annotation הקיים: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קריאת מסמך ה-JSON הקיים מגרסת ה-S3 באמצעות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אימות סכמה וערכים אסורים: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דחיית כל ניסיון שינוי של שדות מערכתיים בלתי-הפיכים, קידום המונה ל-N+1 ואימות מלא מול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כתיבת ה-Annotation ל-S3: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שמירת ה-JSON המעודכן ישירות ב-S3 באמצעות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עדכון מותנה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עדכון מונה הגרסה ב-DynamoDB עם תנאי ConditionExpression המבטיח אטומיות מוחלטת.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16 מתוך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הורדה ישירה, מחיקה לוגית ושחזור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12, 13 ו-14: גישה ישירה לקבצים ומשילות מחזור חיים שאינה הרסנית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עיקרי תהליכי ההורדה, המחיקה הלוגית והשחזור: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הורדה מאובטחת ישירה (12): הפקת קישור זמני (15 דקות) S3 Presigned GET. הלקוח מוריד ישירות מ-S3 ללא עלויות תעבורה או עומס על ה-Lambda.</a:t>
            </a:r>
            <a:br/>
            <a:r>
              <a:t>• מחיקה לוגית מבוקרת (13): עדכון סטטוס 'SOFT_DELETED' ב-DynamoDB והסרת המסמך מאינדקס OpenSearch. קבצי ה-WORM וה-Annotations ב-S3 נשמרים ללא שינוי לעמידה ברגולציה ולצורך שחזור מהיר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17 מתוך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שכבת נגזרות קריאה (DERIVED READ PROJECTIONS)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המרת פורמטים לפי דרישה ושכבת נגזרות (JPEG/PNG ל-PDF)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טרנספורמציה דינמית בזיכרון, שמירת נגזרות ב-S3 ושמירה על עקרון אי-ההשתנות (WORM)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המרה בזיכרון (In-Memory)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מנוע TypeScript טהור: </a:t>
            </a:r>
            <a:r>
              <a:rPr sz="900">
                <a:solidFill>
                  <a:srgbClr val="94A3B8"/>
                </a:solidFill>
                <a:latin typeface="Segoe UI"/>
              </a:rPr>
              <a:t>שימוש בספריית pdf-lib לעיבוד מהיר בזיכרון ללא צורך בבינאריים כבדים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מעבדי AWS Graviton ARM64: </a:t>
            </a:r>
            <a:r>
              <a:rPr sz="900">
                <a:solidFill>
                  <a:srgbClr val="94A3B8"/>
                </a:solidFill>
                <a:latin typeface="Segoe UI"/>
              </a:rPr>
              <a:t>ביצוע בתוך פונקציות ה-Lambda הקיימות בזמן של כ-120 מילישניות בלבד.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קריאה פשוטה בממשק: </a:t>
            </a:r>
            <a:r>
              <a:rPr sz="900">
                <a:solidFill>
                  <a:srgbClr val="94A3B8"/>
                </a:solidFill>
                <a:latin typeface="Segoe UI"/>
              </a:rPr>
              <a:t>הפעלה שקופה באמצעות פרמטר `?format=pdf` בממשקי שליפת מסמך, גרסה והורדה.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שמירת נגזרות ומעקב שושלת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נתיב S3 דטרמיניסטי: </a:t>
            </a:r>
            <a:r>
              <a:rPr sz="900">
                <a:solidFill>
                  <a:srgbClr val="94A3B8"/>
                </a:solidFill>
                <a:latin typeface="Segoe UI"/>
              </a:rPr>
              <a:t>שמירה תחת `derivatives/{class}/{id}/{s3_version_id}.pdf` לזיהוי מיידי בקריאות חוזרות.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שמירה על קודש הקודשים (WORM): </a:t>
            </a:r>
            <a:r>
              <a:rPr sz="900">
                <a:solidFill>
                  <a:srgbClr val="94A3B8"/>
                </a:solidFill>
                <a:latin typeface="Segoe UI"/>
              </a:rPr>
              <a:t>המרת פורמט לעולם אינה מייצרת גרסת מסמך חדשה או משנה את מצביעי DynamoDB.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תגיות מקור במטא-דאטה: </a:t>
            </a:r>
            <a:r>
              <a:rPr sz="900">
                <a:solidFill>
                  <a:srgbClr val="94A3B8"/>
                </a:solidFill>
                <a:latin typeface="Segoe UI"/>
              </a:rPr>
              <a:t>תגיות S3 User Metadata (`x-amz-meta-origin-s3-version-id`) מתעדות את גרסת המקור המדויקת.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יעילות כלכלית ומחזור חיים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מחיקה אוטומטית כעבור 14 יום: </a:t>
            </a:r>
            <a:r>
              <a:rPr sz="900">
                <a:solidFill>
                  <a:srgbClr val="94A3B8"/>
                </a:solidFill>
                <a:latin typeface="Segoe UI"/>
              </a:rPr>
              <a:t>כלל S3 Lifecycle Rule מוחק נגזרות זמניות אוטומטית למניעת ניפוח עלויות אחסון.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שיעור פגיעה ב-Cache של 80%+: </a:t>
            </a:r>
            <a:r>
              <a:rPr sz="900">
                <a:solidFill>
                  <a:srgbClr val="94A3B8"/>
                </a:solidFill>
                <a:latin typeface="Segoe UI"/>
              </a:rPr>
              <a:t>קריאות חוזרות מקבלות ישירות קישור Presigned ל-S3 ללא צורך בחישוב מחדש.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חיסכון מעבדי Graviton: </a:t>
            </a:r>
            <a:r>
              <a:rPr sz="900">
                <a:solidFill>
                  <a:srgbClr val="94A3B8"/>
                </a:solidFill>
                <a:latin typeface="Segoe UI"/>
              </a:rPr>
              <a:t>ארכיטקטורת ARM64 מספקת ביצועים גבוהים יותר ועלות נמוכה ב-20% לעומת x86.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זרימת שירות מקצה לקצה: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לקוח מבצע `GET /documents/{id}?format=pdf` ← 2. ה-Lambda בודקת קיום ב-Cache ← 3. במקרה של החטאה (Miss): קריאת תמונת המקור, המרה בזיכרון ב-Graviton, כתיבת נגזרת ל-S3 ← 4. החזרת קישור Presigned מאובטח להורדת ה-PDF.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18 מתוך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חיפוש טקסטואלי ובדיקת בריאות עמוקה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15 ו-01: POST /v1/search ו-GET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עיקרי מנוע החיפוש ובדיקות הבריאות: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חיפוש OpenSearch Serverless (15): שאילתות טקסט מלא, סינונים לפי שדות מטא-דאטה, תאריכים וסטטוס מסמך בזמני תגובה של מילישניות בודדות.</a:t>
            </a:r>
            <a:br/>
            <a:r>
              <a:t>• בדיקת בריאות מעמיקה (01): בודקת סינכרונית את זמינות DynamoDB, S3 ו-OpenSearch ומחזירה תמונת מצב תפעולית מלאה עבור מערכות ניטור ו-Load Balancers.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19 מתוך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ייצוא חבילות מסמכים ב-ZIP והוספת עמודים ל-PDF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17 ו-18: POST /v1/documents/batch-download ו-POST /v1/documents/{id}/pages</a:t>
            </a:r>
          </a:p>
        </p:txBody>
      </p:sp>
      <p:pic>
        <p:nvPicPr>
          <p:cNvPr id="5" name="Picture 4" descr="17_post_documents_batch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18_post_documents_pag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עיקרי ייצוא אצוות ושינוי בינארי מבוקר (WORM):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ייצוא אצוות ZIP מרובת מסמכים (17): משיכה מקבילית של קבצים מ-S3, אריזה מהירה בזיכרון בתוספת קובץ ביקורת manifest.json, שמירת ה-ZIP ב-S3 (תוקף 14 יום) והחזרת קישור Presigned ל-15 דקות ללא פגיעה בסמכות המקור.</a:t>
            </a:r>
            <a:br/>
            <a:r>
              <a:t>• הוספת עמודים לקובץ PDF קיים (18): מיזוג דפים בזיכרון באמצעות ספריית pdf-lib על גבי Graviton ARM64, שמירת התוצאה כגרסה חדשה לחלוטין (S3 VersionId חדש), ועדכון אטומי של מספר הגרסה וסך העמודים ב-DynamoDB OCC.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20 מתוך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בינה מלאכותית וסוכני BEDROCK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סוכן שיחה מבוסס AI והשלמת מטא-דאטה מקדימה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19 ו-20: POST /v1/agent/chat ו-POST /v1/metadata/suggest (Amazon Bedrock Nova 2 Lite)</a:t>
            </a:r>
          </a:p>
        </p:txBody>
      </p:sp>
      <p:pic>
        <p:nvPicPr>
          <p:cNvPr id="5" name="Picture 4" descr="19_post_agent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20_post_metadata_sugg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0015"/>
            <a:ext cx="5212080" cy="30322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עיקרי שילוב Amazon Bedrock Nova 2 Lite: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סוכן שיחה מסייע למסמכים (19): פועל באמצעות Bedrock AgentCore וכלי MCP ייעודיים (חיפוש, שליפת מטא-דאטה, הורדה). אוכף הקשר והרשאות RBAC, ממיר יחידות כספיות בדיוק נטול נקודה צפה, ומצטט מספרי מסמך וגרסה רשמיים.</a:t>
            </a:r>
            <a:br/>
            <a:r>
              <a:t>• חילוץ מטא-דאטה מולטימודלי (20): ניתוח תוכן בינארי (PDF/תמונה) באמצעות Bedrock Nova 2 Lite, חילוץ ישויות בנקאיות מדויקות על פי סכמת ה-JSON וחישוב מדדי ביטחון לטובת מילוי טפסים מהיר בפורטל.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21 מתוך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רגולציה, ביקורת והעשרת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תחקור יומן ביקורת מאוחד והעשרת מטא-דאטה מונעת אירועים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21 ו-22: GET /v1/documents/{id}/audit וצינור העשרה אסינכרוני (LLM &amp; PII Ratchet)</a:t>
            </a:r>
          </a:p>
        </p:txBody>
      </p:sp>
      <p:pic>
        <p:nvPicPr>
          <p:cNvPr id="5" name="Picture 4" descr="21_get_documents_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20077"/>
            <a:ext cx="5212080" cy="3052085"/>
          </a:xfrm>
          <a:prstGeom prst="rect">
            <a:avLst/>
          </a:prstGeom>
        </p:spPr>
      </p:pic>
      <p:pic>
        <p:nvPicPr>
          <p:cNvPr id="6" name="Picture 5" descr="22_async_llm_metadata_enrich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שקיפות רגולטורית ומנגנון אבטחה ללא שנמוך (Non-Downgrade Ratchet):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תחקור יומן ביקורת מאוחד (21): שליפה ישירה מ-S3 Audit Bucket של רשומות WORM בלתי-ניתנות לשינוי עם דפדוף מבוסס Cursor, המאפשרות שחזור היסטוריית שינויים מלאה ומאומתת עבור גופי רגולציה.</a:t>
            </a:r>
            <a:br/>
            <a:r>
              <a:t>• צינור העשרה אסינכרוני מבוסס אירועים (22): תור SQS ייעודי קולט שינויי DynamoDB CDC, מפעיל עובד רקע המנתח את המסמך מול Bedrock Nova 2 Lite לזיהוי ישויות ומידע רגיש (PII), מעדכן ב-DynamoDB OCC, ואוסר שנמוך סיווג אבטחה.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22 מתוך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ממשק משתמש ואינטגרציה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פורטל אינטרנט Serverless וארכיטקטורת אינטגרציית לקוחות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אימות מאובטח ב-Cognito JWT וחישוב SHA-256 בצד הלקוח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האינטגרציה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סימולטור תפקידים בקליק: </a:t>
            </a:r>
            <a:r>
              <a:rPr sz="850">
                <a:solidFill>
                  <a:srgbClr val="94A3B8"/>
                </a:solidFill>
                <a:latin typeface="Segoe UI"/>
              </a:rPr>
              <a:t>יצירת טוקנים מיידית לבדיקת הרשאות Admin, Writer, Reader וקצין ציות.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חתימת בקשות אוטומטית: </a:t>
            </a:r>
            <a:r>
              <a:rPr sz="850">
                <a:solidFill>
                  <a:srgbClr val="94A3B8"/>
                </a:solidFill>
                <a:latin typeface="Segoe UI"/>
              </a:rPr>
              <a:t>החתמת כל קריאות ה-HTTP בטוקני Cognito OAuth 2.0 / OIDC JWT.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ממשק העלאה דו-ערוצי: </a:t>
            </a:r>
            <a:r>
              <a:rPr sz="850">
                <a:solidFill>
                  <a:srgbClr val="94A3B8"/>
                </a:solidFill>
                <a:latin typeface="Segoe UI"/>
              </a:rPr>
              <a:t>תמיכה שקופה בהעלאה ישירה בקישור S3 או העלאה מהירה של קבצים קטנים.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אספקת PDF לפי דרישה: </a:t>
            </a:r>
            <a:r>
              <a:rPr sz="850">
                <a:solidFill>
                  <a:srgbClr val="94A3B8"/>
                </a:solidFill>
                <a:latin typeface="Segoe UI"/>
              </a:rPr>
              <a:t>כפתור הורדה דינמי להמרת תמונות JPEG/PNG ל-PDF בזמן אמת.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חקר נתונים בזמן אמת: </a:t>
            </a:r>
            <a:r>
              <a:rPr sz="850">
                <a:solidFill>
                  <a:srgbClr val="94A3B8"/>
                </a:solidFill>
                <a:latin typeface="Segoe UI"/>
              </a:rPr>
              <a:t>ממשק חיפוש מהיר עם סינונים דינמיים מול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23 מתוך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אבטחת מידע ומשילות הרשאות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מטריצת הרשאות RBAC, הצפנת נתונים ובקרת WORM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אכיפת הרשאות קשיחה ב-Cognito, מפתחות הצפנה ייעודיים ב-KMS ומשילות רגולטורית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אכיפת מטריצת הרשאות (Cognito RBAC Matrix)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פעולה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הצפנה ארגונית ובקרת WORM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מפתח הצפנה ייעודי ב-AWS KMS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מפתח מרכזי (alias/doc-platform-mvp) עם רוטציה שנתית אוטומטית להצפנת דליי S3, טבלאות DynamoDB, תורי SQS ולוגים.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מדיניות אי-מחיקה מוחלטת (WORM):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חסימה מפורשת s3:DeleteObjectVersion DENY בכלל מדיניות ה-IAM. אין אפשרות לדרוס או למחוק קבצים בינאריים מקוריים.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אפס חשיפה ציבורית ב-S3: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חסימת גישה ציבורית מלאה (S3 Block Public Access) ואכיפת TLS 1.2+ בהצפנה במעבר (In-Transit).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תפקידי IAM מבודדים (Micro-Perimeter):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לכל פונקציית Lambda תפקיד IAM ייעודי המגביל את פעולותיה לרכיבים הנדרשים בלבד.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24 מתוך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פריסה ותשתית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תשתית כקוד (IaC): 10 Stacks מודולריים ב-AWS CDK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TypeScript CloudFormation דטרמיניסטית, תיוג גלובלי ואפס תלויות מעגליות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מנהל את ספריית המשתמשים, קבוצות ה-RBAC ומפתח ההצפנה המרכזי.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מגדיר גרסאות, מדיניות הצפנה, CORS ומדיניות נעילת WORM.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מקים את אוסף החיפוש הוקטורי, מדיניות הצפנה ואבטחת רשת.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SQS Queues (אינדוקס + העשרת AI מבוססת Bedrock)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חוצץ אירועי CDC עם 3 ניסיונות חוזרים והתראות CloudWatch.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טבלה מרכזית בטכנולוגיית Single-Table עם PITR ו-Streams פעילים.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21 פונקציות Graviton ARM64 AWS Lambda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שירותי Command, Query, Search, Stream, Indexer ו-Enricher.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7. AgentStack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Bedrock Nova 2 Lite סוכן שיחה ו-Gateway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מנהל את תשתית הסוכן, כלי MCP ותשאול אינטראקטיבי.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8.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מחבר 20 נתיבים, מנגנון הרשאות, הגבלות קצב ו-CORS.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9. ServerlessReactFrontendStack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CloudFront CDN &amp; S3 React 18 SPA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הפצה גלובלית מהירה ומאובטחת של פורטל React 18 SPA עם TLS 1.3.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5255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10.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התראות CloudWatch, לוחות בקרה ותיוג גלובלי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התראות DLQ/5xx, לוחות בקרה תפעוליים ותגיות Project/Environment.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25 מתוך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תמצית מנהלים וערך אסטרטגי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סיכום אסטרטגי ותיעוד החלטות ארכיטקטורה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פתרון Serverless זה מספק שרידות מקסימלית, יעילות כלכלית ועמידה מלאה ברגולציה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אפס עלויות סרק (Zero Idle TCO)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עלויות המערכת נגזרות ישירות מנפח השימוש בפועל. סביבות פיתוח ובדיקה עולות $0 בעת חוסר פעילות, וחוסכות מיליוני דולרים ברישוי.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שרידות WORM בלתי-מוגבלת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שרידות של 11 תשיעיות ב-S3 יחד עם ניהול גרסאות קשיח ומדיניות IAM Deny מבטיחים הגנה מלאה מפני תוכנות כופר ומחיקות שגויות.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בידוד מוחלט של מרחב הכשל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ארכיטקטורת אחסון CQRS מבוזרת מבטיחה שבנייה מחדש של אינדקס החיפוש לעולם לא תשבית העלאה, עריכה או הורדה של מסמכים.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החלטה ארכיטקטונית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הגישה שנבחרה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חלופות שנדחו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הנמקה אסטרטגית מרכזית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מודל אחסון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כותרות S3 (2KB) / קבצי Sidecar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עוקף מגבלת 2KB, מונע שכפול קבצים ומוכן לשאילתות SQL ישירות.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טבלת בקרת טרנזקציות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מהירות תגובה של מילישניות בודדות, בקרת מקביליות אופטימית ואפס תחזוקת שרתים.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טופולוגיית מנוע החיפוש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על EC2 / קלאסטר מנוהל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ללא צורך בניהול גודל שרתים, התרחבות OCU אוטומטית ואימות IAM SigV4.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טרנספורמציית פורמטים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המרת PDF לפי דרישה (14d S3 Cache)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המרה מראש של כל הקבצים / אחסון קבוע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ביצוע בזיכרון על Graviton ARM64, מחיקה אוטומטית כעבור 14 יום, שושלת WORM נשמרת.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אימות סכמות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GitOps מהודר מראש (Ajv בזיכרון)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שליפת סכמות מ-DB בעליית Lambda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אפס תקורה בעליית פונקציה (Cold Start) ובקרת קוד קפדנית ב-Pull Requests.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26 מתוך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