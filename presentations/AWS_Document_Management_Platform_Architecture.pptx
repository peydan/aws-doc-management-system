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05840"/>
            <a:ext cx="164592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9900"/>
                </a:solidFill>
                <a:latin typeface="Segoe UI"/>
              </a:defRPr>
            </a:pPr>
            <a:r>
              <a:t>AWS ENTERPRISE 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8FAFC"/>
                </a:solidFill>
                <a:latin typeface="Segoe UI"/>
              </a:defRPr>
            </a:pPr>
            <a:r>
              <a:t>Cloud-Native Enterprise Document Management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8BDF8"/>
                </a:solidFill>
                <a:latin typeface="Segoe UI"/>
              </a:defRPr>
            </a:pPr>
            <a:r>
              <a:t>Decoupled Serverless Architecture for Immutable Binary Versioning, Native S3 Metadata Annotations, Optimistic Concurrency &amp; CQRS Search Projections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WORM Immutability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S3 versioning with strict IAM Deny policies for regulatory compliance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S3 Annotations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Overcomes 2 KB header limits; zero sidecar sprawl with native JSON binding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DynamoDB OCC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Sub-10ms transactional control plane with atomic optimistic concurrency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Segoe UI"/>
              </a:defRPr>
            </a:pPr>
            <a:r>
              <a:t>CQRS 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OpenSearch Serverless derived read model with full blast radius isolation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STRATEGIC VALUE &amp;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Executive Summary &amp; Enterprise Architecture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Modernizing Enterprise Content Management with Decoupled Cloud-Native Serverless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Enterprise Architecture Core Principles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Consumption-Based Elasticity: </a:t>
            </a:r>
            <a:r>
              <a:rPr b="0">
                <a:solidFill>
                  <a:srgbClr val="94A3B8"/>
                </a:solidFill>
              </a:rPr>
              <a:t>100% serverless compute and on-demand database scaling ensure zero idle cost and automatic capacity expansion.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Decoupled Authority Model: </a:t>
            </a:r>
            <a:r>
              <a:rPr b="0">
                <a:solidFill>
                  <a:srgbClr val="94A3B8"/>
                </a:solidFill>
              </a:rPr>
              <a:t>Separating binary storage, metadata indexing, and full-text search prevents distributed locking and cascading outages.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Native S3 Object Annotations: </a:t>
            </a:r>
            <a:r>
              <a:rPr b="0">
                <a:solidFill>
                  <a:srgbClr val="94A3B8"/>
                </a:solidFill>
              </a:rPr>
              <a:t>Eliminates 2 KB header limits without sidecar files, enabling direct schema-validated metadata mutations.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Enterprise WORM &amp; Auditability: </a:t>
            </a:r>
            <a:r>
              <a:rPr b="0">
                <a:solidFill>
                  <a:srgbClr val="94A3B8"/>
                </a:solidFill>
              </a:rPr>
              <a:t>Enforces immutable content versioning, strict optimistic concurrency control, and continuous CDC stream auditing.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Segoe UI"/>
              </a:defRPr>
            </a:pPr>
            <a:r>
              <a:t>Key Architectural Capabilities &amp; Business Outcomes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Zero-Idle TCO: </a:t>
            </a:r>
            <a:r>
              <a:rPr b="0">
                <a:solidFill>
                  <a:srgbClr val="94A3B8"/>
                </a:solidFill>
              </a:rPr>
              <a:t>True serverless compute (Lambda) and storage (S3/DynamoDB/OpenSearch Serverless). Zero compute cost during idle periods.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11 9s Durability &amp; Compliance: </a:t>
            </a:r>
            <a:r>
              <a:rPr b="0">
                <a:solidFill>
                  <a:srgbClr val="94A3B8"/>
                </a:solidFill>
              </a:rPr>
              <a:t>Amazon S3 raw binaries with WORM immutability; explicit s3:DeleteObjectVersion DENY policies prevent malicious deletion.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Sub-Second Latency SLAs: </a:t>
            </a:r>
            <a:r>
              <a:rPr b="0">
                <a:solidFill>
                  <a:srgbClr val="94A3B8"/>
                </a:solidFill>
              </a:rPr>
              <a:t>Inline uploads in ~150ms; direct presigned downloads in &lt;50ms; sub-10ms DynamoDB transactional control plane.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CQRS Blast Radius Isolation: </a:t>
            </a:r>
            <a:r>
              <a:rPr b="0">
                <a:solidFill>
                  <a:srgbClr val="94A3B8"/>
                </a:solidFill>
              </a:rPr>
              <a:t>OpenSearch search index failures or re-indexing operations never impact core document downloads, uploads, or metadata edits.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SYSTEM TOPOLOGY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End-to-End Solution Architecture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Comprehensive AWS Serverless Topology, Ingress Control, Microservice Compute &amp; Storage Layers</a:t>
            </a:r>
          </a:p>
        </p:txBody>
      </p:sp>
      <p:pic>
        <p:nvPicPr>
          <p:cNvPr id="5" name="Picture 4" descr="aws_document_management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498079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508760"/>
            <a:ext cx="304769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1691640"/>
            <a:ext cx="268193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Architecture Highlights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API Gateway Ingress: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Handles REST routing, Cognito JWT token validation, and binary payload passthrough (*/*).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Lambda Micro-Perimeters: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Stateless Command, Query, and Search handlers operating under strict least-privilege IAM roles.</a:t>
            </a:r>
          </a:p>
          <a:p>
            <a:pPr>
              <a:spcBef>
                <a:spcPts val="600"/>
              </a:spcBef>
              <a:defRPr sz="1000" b="1">
                <a:solidFill>
                  <a:srgbClr val="FBBF24"/>
                </a:solidFill>
                <a:latin typeface="Segoe UI"/>
              </a:defRPr>
            </a:pPr>
            <a:r>
              <a:t>Native S3 Annotations: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Authoritative JSON metadata bound directly to S3 object versions (document-metadata).</a:t>
            </a:r>
          </a:p>
          <a:p>
            <a:pPr>
              <a:spcBef>
                <a:spcPts val="600"/>
              </a:spcBef>
              <a:defRPr sz="1000" b="1">
                <a:solidFill>
                  <a:srgbClr val="C084FC"/>
                </a:solidFill>
                <a:latin typeface="Segoe UI"/>
              </a:defRPr>
            </a:pPr>
            <a:r>
              <a:t>DynamoDB Control Table: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Single-table design tracking active pointers, OCC revisions, and upload sessions.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Async CDC Pipeline: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DynamoDB Streams feed S3 Audit Bucket &amp; SQS Indexing Queue to hydrate OpenSearch Serverless.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CORE DATA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The 5-Tier Authority &amp; Consistency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Eliminating Distributed 2-Phase Transactions by Assigning Strict Authority Boundaries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38BDF8"/>
                </a:solidFill>
                <a:latin typeface="Segoe UI"/>
              </a:defRPr>
            </a:pPr>
            <a:r>
              <a:t>1. Content Authority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S3 (Primary Bucket)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645920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Immutable raw binary storage (PDF, TIFF, Office). Versioned objects with strict s3:DeleteObjectVersion DENY policies for absolute WORM compliance. Raw bytes are cryptographically locked via SHA-256.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87168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24328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34D399"/>
                </a:solidFill>
                <a:latin typeface="Segoe UI"/>
              </a:defRPr>
            </a:pPr>
            <a:r>
              <a:t>2. Metadata Authority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S3 Annotations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624328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Full structured JSON metadata stored as authoritative named annotations (document-metadata) bound directly to S3 object versions. Conforms strictly to schema bank.document-metadata/1.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65576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602736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9900"/>
                </a:solidFill>
                <a:latin typeface="Segoe UI"/>
              </a:defRPr>
            </a:pPr>
            <a:r>
              <a:t>3. Control Plane Authority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DynamoDB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602736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Single-table design tracking active document pointers (DOC#{id}), version lineages (VER#{pad}), optimistic concurrency locks, and upload sessions at sub-10ms latency.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43984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581144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C084FC"/>
                </a:solidFill>
                <a:latin typeface="Segoe UI"/>
              </a:defRPr>
            </a:pPr>
            <a:r>
              <a:t>4. Search Read Projection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OpenSearch Serverless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4581144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Derived CQRS read model (documents-v1) hydrated asynchronously via DynamoDB Streams and SQS. Document ingestion and downloads remain 100% operational if search is offline.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422392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559552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43F5E"/>
                </a:solidFill>
                <a:latin typeface="Segoe UI"/>
              </a:defRPr>
            </a:pPr>
            <a:r>
              <a:t>5. Non-Repudiation Audit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S3 Audit Bucket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5559552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Immutable CDC mutation stream logs automatically written to a KMS-encrypted, date-partitioned audit bucket (audit/{date}/{doc_id}_{event_id}.json) for forensics and compliance.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DATA ARCHITECTURE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Storage Interplay: S3 Annotations vs. DynamoDB Control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Why Both Are Essential: Resolving Object Storage Limitations with Transactional Database Speed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926080"/>
                <a:gridCol w="3047695"/>
              </a:tblGrid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Dimension / Capability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Amazon S3 &amp; S3 Annotations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Amazon DynamoDB Control Table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Why DynamoDB Is Essential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Authoritative 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 Authority (Holds full JSON schema payload)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Stores lightweight pointer, revision count &amp; ETag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S3 Annotations bind rich data to object versions; enables Iceberg SQL queries.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Optimistic Concurrency (OCC)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No conditional expressions on arbitrary JSON attributes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Atomic ConditionExpression on revision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atomically verifies current_metadata_revision = :exp to prevent lost updates.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Active Pointer Resolution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Requires listing all object versions in bucket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O(1) sub-millisecond key-value lookup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maps DOC#{id} to latest active s3_version_id without slow S3 API listings.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Version History Lineage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Non-sequential, opaque S3 version string IDs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Sort-Key indexed query begins_with(VER#)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Enables instant retrieval of ordered history (v1, v2, v3) in a single fast read query.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Multi-Item ACID Transactions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No multi-object transactional commit API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TransactWriteItems binds pointer &amp; locks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Atomically updates pointer, records version item, and commits idempotency lock in 1 call.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1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Change Data Capture (CDC)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S3 Event Notifications lack before/after diffs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Ordered DynamoDB Streams (Old/New)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Emits rich event streams to asynchronously drive the S3 audit logger and search index.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EVENT ARCHITECTURE &amp; CQRS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Asynchronous CDC &amp; Search Hydration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Event-Driven Downstream Decoupling: DynamoDB Streams → S3 Audit Bucket &amp; SQS → OpenSearch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4864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Segoe UI"/>
              </a:defRPr>
            </a:pPr>
            <a:r>
              <a:t>Pipeline Execution Lifecycle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1. Transactional Commit in DynamoDB: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Upload, versioning, metadata edit, or soft-delete commits to DynamoDB and emits a CDC record to DynamoDB Streams.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2. Stream Processor Lambda: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Consumes batches of stream records in real time and triggers two parallel operations:</a:t>
            </a:r>
            <a:br/>
            <a:r>
              <a:t> • Writes an immutable JSON audit log to the S3 Audit Bucket.</a:t>
            </a:r>
            <a:br/>
            <a:r>
              <a:t> • Dispatches an indexing message to the Amazon SQS Indexing Queue.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3. SQS Indexer Consumer Lambda: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Pulls batches from SQS, reads the authoritative S3 annotation, and updates the OpenSearch Serverless collection (documents-v1).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4. Poison Message Quarantine &amp; DLQ: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If OpenSearch is temporarily unavailable, SQS retries 3 times before isolating failed records in doc-platform-mvp-index-dlq and triggering CloudWatch alarms.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5937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737360"/>
            <a:ext cx="460217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SQS Index Message Contract (JSON)</a:t>
            </a:r>
          </a:p>
          <a:p>
            <a:pPr>
              <a:spcBef>
                <a:spcPts val="600"/>
              </a:spcBef>
              <a:defRPr sz="950">
                <a:solidFill>
                  <a:srgbClr val="38BDF8"/>
                </a:solidFill>
                <a:latin typeface="Consolas"/>
              </a:defRPr>
            </a:pPr>
            <a:r>
              <a:t>{</a:t>
            </a:r>
            <a:br/>
            <a:r>
              <a:t>  "event_id": "e3b0c442-98fc-1c14-9afb-f4c8996fb924",</a:t>
            </a:r>
            <a:br/>
            <a:r>
              <a:t>  "event_type": "DOCUMENT_METADATA_UPDATED",</a:t>
            </a:r>
            <a:br/>
            <a:r>
              <a:t>  "document_id": "550e8400-e29b-41d4-a716-446655440000",</a:t>
            </a:r>
            <a:br/>
            <a:r>
              <a:t>  "document_class": "loan_agreement",</a:t>
            </a:r>
            <a:br/>
            <a:r>
              <a:t>  "application_version": 2,</a:t>
            </a:r>
            <a:br/>
            <a:r>
              <a:t>  "metadata_revision": 3,</a:t>
            </a:r>
            <a:br/>
            <a:r>
              <a:t>  "status": "ACTIVE",</a:t>
            </a:r>
            <a:br/>
            <a:r>
              <a:t>  "timestamp": "2026-08-18T15:05:00.000Z",</a:t>
            </a:r>
            <a:br/>
            <a:r>
              <a:t>  "actor_id": "usr_editor_02"</a:t>
            </a:r>
            <a:br/>
            <a:r>
              <a:t>}</a:t>
            </a:r>
          </a:p>
          <a:p>
            <a:pPr>
              <a:spcBef>
                <a:spcPts val="800"/>
              </a:spcBef>
              <a:defRPr sz="1100" b="1">
                <a:solidFill>
                  <a:srgbClr val="C084FC"/>
                </a:solidFill>
                <a:latin typeface="Segoe UI"/>
              </a:defRPr>
            </a:pPr>
            <a:r>
              <a:t>Resilience &amp; Self-Healing Properties: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Idempotent Consumer: Version-guarded upserts prevent out-of-order race conditions.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Index Rehydration: Search index can be dropped and 100% rebuilt from S3 annotations.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Blast Radius Isolation: Search outages never block transactional uploads or downloads.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VERSIONING &amp; METADATA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Triple-Level Version Lineage &amp; Immutability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Cryptographic Integrity, Monotonic State Tracking, and Strict Schema Governance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1. Application Version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application_version (1, 2, 3...)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Monotonic integer. Increments strictly when new binary content is uploaded via POST /versions. Resets metadata_revision to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2. Physical S3 VersionId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s3_version_id ("3/L4bqt9...")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Immutable S3-generated cryptographic object version identifier representing raw binary bytes stored in the primary S3 bucket.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3. Metadata Revision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metadata_revision (1, 2, 3...)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Monotonic OCC revision counter. Increments on every PATCH /metadata update. Enforced via DynamoDB ConditionExpressions.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063240"/>
          <a:ext cx="10728655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  <a:gridCol w="2103120"/>
                <a:gridCol w="3504895"/>
              </a:tblGrid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Field Names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Category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Mutability Rule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Update &amp; Governance Mechanism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document_id, document_class, created_at, created_by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System Identity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Strictly Immutable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Assigned once on initial document creation. Reject modification with 400 error.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application_version, content_type, format, page_count, content_length, content_checksum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Binary Specifier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FBBF24"/>
                          </a:solidFill>
                          <a:latin typeface="Segoe UI"/>
                        </a:defRPr>
                      </a:pPr>
                      <a:r>
                        <a:t>Immutable for Version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Cryptographically bound to raw bytes (SHA-256). Updates only on POST /versions or format conversion.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metadata_revision, metadata_updated_at, metadata_updated_by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Concurrency Tracking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System Monotonic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Automatically managed by Lambda and DynamoDB OCC conditional expressions.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customer_id, complete_customer_id_code, account_id, business_area_code, loan_number, currency...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Domain &amp; Shared Traits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Mutable via PATCH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Modifiable via PATCH /metadata with Ajv JSON Schema validation and expected_metadata_revision.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CONCURRENCY &amp; EVOLUTION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Optimistic Concurrency Control (OCC) &amp; Metadata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Preventing Lost Overwrites Under High Concurrency &amp; In-Memory Ajv JSON Schema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OCC Algorithm (PATCH /v1/documents/{id}/metadata)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1. Client Passes Revision: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Caller includes expected_metadata_revision: N in the request body along with desired field changes.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2. Read &amp; Consistency Check: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Lambda reads DynamoDB DOC#{id} pointer. If current_metadata_revision != expected_metadata_revision, aborts immediately with 409 METADATA_CONFLICT.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3. Fetch S3 Annotation &amp; Merge: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Fetches current S3 annotation JSON via GetObjectAnnotation, validates that changes contain no immutable fields, increments revision to N+1, and validates against Ajv.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4. S3 Annotation Commit: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S3 PutObjectAnnotation attaches updated JSON to S3 object version.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5. Atomic DynamoDB Conditional Commit: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DynamoDB executes conditional update (ConditionExpression: current_metadata_revision = :expRev). If parallel update raced, DynamoDB throws ConditionalCheckFailedException.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Metadata Schema Evolution &amp; GitOps</a:t>
            </a:r>
          </a:p>
          <a:p>
            <a:pPr>
              <a:spcBef>
                <a:spcPts val="600"/>
              </a:spcBef>
              <a:defRPr sz="1050" b="1">
                <a:solidFill>
                  <a:srgbClr val="C084FC"/>
                </a:solidFill>
                <a:latin typeface="Segoe UI"/>
              </a:defRPr>
            </a:pPr>
            <a:r>
              <a:t>Current GitOps Lifecycle (Build-Time Packaging):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Zero Cold Start Latency: </a:t>
            </a:r>
            <a:r>
              <a:rPr b="0">
                <a:solidFill>
                  <a:srgbClr val="94A3B8"/>
                </a:solidFill>
              </a:rPr>
              <a:t>Schemas (schemas/loan_agreement-v1.json) are bundled directly into Lambda artifacts and compiled into memory at startup using Ajv. Zero DB network hops.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Closed Envelope Contract: </a:t>
            </a:r>
            <a:r>
              <a:rPr b="0">
                <a:solidFill>
                  <a:srgbClr val="94A3B8"/>
                </a:solidFill>
              </a:rPr>
              <a:t>additionalProperties: false prevents property pollution and schema drift across document classes.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Strict Pull Request Governance: </a:t>
            </a:r>
            <a:r>
              <a:rPr b="0">
                <a:solidFill>
                  <a:srgbClr val="94A3B8"/>
                </a:solidFill>
              </a:rPr>
              <a:t>Schema updates require code review, automated schema linting, and CI/CD validation before deployment.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Phase 2 Roadmap (Dynamic Registry): </a:t>
            </a:r>
            <a:r>
              <a:rPr b="0">
                <a:solidFill>
                  <a:srgbClr val="94A3B8"/>
                </a:solidFill>
              </a:rPr>
              <a:t>Future phase introduces a dedicated DynamoDB Schema Registry table for runtime administrative schema registration without redeployment.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INGESTION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Bimodal Ingestion Architecture: Inline vs. Direct 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Optimizing Latency and Eliminating API Gateway 10 MiB Payload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Pathway 1: Inline Binary Upload (≤ 4 MiB)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Single HTTP Request for standard documents, receipts, invoices, and IDs.</a:t>
            </a:r>
          </a:p>
          <a:p>
            <a:pPr>
              <a:spcBef>
                <a:spcPts val="800"/>
              </a:spcBef>
              <a:defRPr sz="900">
                <a:solidFill>
                  <a:srgbClr val="34D399"/>
                </a:solidFill>
                <a:latin typeface="Consolas"/>
              </a:defRPr>
            </a:pPr>
            <a:r>
              <a:t>POST /v1/documents</a:t>
            </a:r>
            <a:br/>
            <a:r>
              <a:t>Headers:</a:t>
            </a:r>
            <a:br/>
            <a:r>
              <a:t>  • Content-Type: application/pdf</a:t>
            </a:r>
            <a:br/>
            <a:r>
              <a:t>  • X-Content-SHA256: {hex_hash}</a:t>
            </a:r>
            <a:br/>
            <a:r>
              <a:t>  • X-Document-Metadata: {base64_json_envelope}</a:t>
            </a:r>
            <a:br/>
            <a:r>
              <a:t>Body: Raw Binary Bytes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Execution Characteristics: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Total E2E Latency: ~120ms - 250ms synchronous response.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Atomic Commit: Binary + S3 Annotation + DynamoDB pointer committed simultaneously.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Zero Client Coordination: 1 request returns 201 Created with complete metadata.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Pathway 2: Direct S3 Presigned Upload (&gt; 4 MiB)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Two-Phase Protocol designed for large loan dossiers, mortgage archives &amp; CAD files.</a:t>
            </a:r>
          </a:p>
          <a:p>
            <a:pPr>
              <a:spcBef>
                <a:spcPts val="800"/>
              </a:spcBef>
              <a:defRPr sz="900">
                <a:solidFill>
                  <a:srgbClr val="38BDF8"/>
                </a:solidFill>
                <a:latin typeface="Consolas"/>
              </a:defRPr>
            </a:pPr>
            <a:r>
              <a:t>Step 1: POST /v1/documents/uploads</a:t>
            </a:r>
            <a:br/>
            <a:r>
              <a:t>  → Validates metadata, mints 15-min S3 presigned PUT URL.</a:t>
            </a:r>
            <a:br/>
            <a:r>
              <a:t>Step 2: PUT {presigned_url}</a:t>
            </a:r>
            <a:br/>
            <a:r>
              <a:t>  → Client streams bytes directly to S3 (line rate).</a:t>
            </a:r>
            <a:br/>
            <a:r>
              <a:t>Step 3: POST /v1/uploads/{id}/complete</a:t>
            </a:r>
            <a:br/>
            <a:r>
              <a:t>  → Lambda validates S3 HeadObject &amp; activates pointer.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Execution Characteristics: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Bypasses API Gateway 10 MiB Ceiling: Scales to multi-GB uploads.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Zero Lambda Memory Overhead: Compute handles only metadata coordination.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Automated Session TTL: Uncompleted sessions cleaned up after 24h via DynamoDB TTL.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SURFACE &amp; CONTRACTS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Exposed REST APIs: Complete Operations Catalog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15 Production Endpoints Partitioned Across Ingestion, Lifecycle, Metadata, Download &amp; Search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03120"/>
                <a:gridCol w="2834640"/>
                <a:gridCol w="2468880"/>
                <a:gridCol w="944575"/>
              </a:tblGrid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Method &amp; Path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Operation Name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Target Components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RBAC Role Required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Mode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/health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Health Check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DynamoDB, S3, OpenSearch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Public / All Roles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Inline Document Upload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API GW, Lambda, S3,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/v1/documents/uploads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Direct Upload Init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Presign,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/v1/uploads/{id}/complete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Complete Direct Upload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Annotate,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43F5E"/>
                          </a:solidFill>
                          <a:latin typeface="Consolas"/>
                        </a:defRPr>
                      </a:pPr>
                      <a:r>
                        <a:t>DELETE /v1/uploads/{id}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Cancel Direct Upload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Abort,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Document Pointer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API GW, Lambda,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/v1/documents/{id}/versions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List Version History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 VER# Query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/v1/documents/{id}/versions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Create New Version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Binary+Annot,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/v1/documents/{id}/versions/{v}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Historical Version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 VER# Item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/v1/documents/{id}/metadata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Authoritative Metadata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Annotation Get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BBF24"/>
                          </a:solidFill>
                          <a:latin typeface="Consolas"/>
                        </a:defRPr>
                      </a:pPr>
                      <a:r>
                        <a:t>PATCH /v1/documents/{id}/metadata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OCC Metadata Update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Annotate,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Document.MetadataEditor / Writer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/v1/documents/{id}/download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Presigned Download URL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Presign (15 min)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/v1/documents/{id}/soft-delete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Soft Delete Document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DynamoDB, CDC De-index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Document.Admin (Exclusive)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/v1/documents/{id}/restore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Restore Document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DynamoDB, CDC Re-index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Document.Admin (Exclusive)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/v1/search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Search Documents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OpenSearch Serverless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7432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/v1/documents/batch-download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Batch ZIP Export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JSZip, S3 Presign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Inline Binary Ingestion (≤ 4 MiB)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 02: POST /v1/documents — Atomic Single-Transaction Upload Flow</a:t>
            </a:r>
          </a:p>
        </p:txBody>
      </p:sp>
      <p:pic>
        <p:nvPicPr>
          <p:cNvPr id="5" name="Picture 4" descr="02_post_documents_inl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13232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508760"/>
            <a:ext cx="341345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69164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Sequence Breakdown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1. Ingress &amp; Auth: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API Gateway verifies JWT bearer token against Cognito authorizer (requires Document.Writer or Admin).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2. Validation &amp; Checksum: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Lambda calculates SHA-256 over raw binary payload and validates JSON envelope against bank.document-metadata/1 via Ajv in memory.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3. Storage Commit: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Uploads binary to S3: documents/{class}/{doc_id} and attaches native S3 Annotation (document-metadata).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4. Atomic DynamoDB Commit: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Executes TransactWriteItems creating pointer DOC#{id}, initial version VER#0000000001, and idempotency lock.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5. Downstream CDC: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DynamoDB Streams triggers StreamProcessor Lambda asynchronously for S3 audit logging and SQS indexing.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Direct S3 Presigned Upload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03 &amp; 04: POST /v1/documents/uploads &amp; POST /v1/uploads/{id}/complete</a:t>
            </a:r>
          </a:p>
        </p:txBody>
      </p:sp>
      <p:pic>
        <p:nvPicPr>
          <p:cNvPr id="5" name="Picture 4" descr="03_post_documents_uploads_in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4_post_uploads_comp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Two-Phase Upload Protocol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Phase 1 (Init - 03): Validates metadata schema, creates UPLOAD#{id} session in DynamoDB with 24h TTL, and mints 15-min S3 presigned PUT URL.</a:t>
            </a:r>
            <a:br/>
            <a:r>
              <a:t>• Direct Transfer: Client streams multi-megabyte/gigabyte binary directly to S3 without passing through API Gateway or Lambda.</a:t>
            </a:r>
            <a:br/>
            <a:r>
              <a:t>• Phase 2 (Complete - 04): Lambda verifies S3 HeadObject (size/checksum), writes S3 Annotation, updates session state to ACTIVE, and commits DynamoDB document pointer.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Upload Cancellation &amp; Document Inspection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05 &amp; 06: DELETE /v1/uploads/{id} &amp; GET /v1/documents/{id}</a:t>
            </a:r>
          </a:p>
        </p:txBody>
      </p:sp>
      <p:pic>
        <p:nvPicPr>
          <p:cNvPr id="5" name="Picture 4" descr="05_delete_uploads_canc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6_get_documents_document_i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Cancellation &amp; Inspection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Cancel Upload (05): Aborts direct upload session in DynamoDB (state = ABORTED) and purges uncommitted staging objects from S3 to prevent orphan storage accumulation.</a:t>
            </a:r>
            <a:br/>
            <a:r>
              <a:t>• Get Document Pointer (06): Executes fast O(1) strongly consistent read on DynamoDB (pk = DOC#{id}, sk = DOC). Returns active version number, S3 version ID, status, and metadata revision in &lt;10ms.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Version Lineage &amp; Binary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07 &amp; 08: GET /v1/documents/{id}/versions &amp; POST /v1/documents/{id}/versions</a:t>
            </a:r>
          </a:p>
        </p:txBody>
      </p:sp>
      <p:pic>
        <p:nvPicPr>
          <p:cNvPr id="5" name="Picture 4" descr="07_get_documents_versi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8_post_documents_vers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Version Lineage &amp; Binary Evolution Mechanics: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Version Query (07): Fast DynamoDB query (pk = DOC#{id} AND begins_with(sk, 'VER#')) returns ordered version history without paginating S3.</a:t>
            </a:r>
            <a:br/>
            <a:r>
              <a:t>• New Version Upload (08): Uploads replacement binary to same S3 key, creating a new S3 VersionId. Increments application_version (e.g. 1 → 2), resets metadata_revision to 1, recomputes SHA-256 hash, and inserts new VER# item in DynamoDB.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Historical Versions &amp; Authoritative Metadata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09 &amp; 10: GET /v1/documents/{id}/versions/{v} &amp; GET /v1/documents/{id}/metadata</a:t>
            </a:r>
          </a:p>
        </p:txBody>
      </p:sp>
      <p:pic>
        <p:nvPicPr>
          <p:cNvPr id="5" name="Picture 4" descr="09_get_documents_version_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10_get_documents_metadat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Historical &amp; Authoritative Metadata Retrieval: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Historical Version Details (09): Fetches historical version record (pk = DOC#{id}, sk = VER#{padded_version}) from DynamoDB, returning immutable content length, checksum, and S3 version ID.</a:t>
            </a:r>
            <a:br/>
            <a:r>
              <a:t>• Authoritative Metadata JSON (10): Resolves active version pointer from DynamoDB and fetches the complete authoritative S3 JSON annotation (document-metadata) directly from S3 via GetObjectAnnotation.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Optimistic Concurrency Metadata 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 11: PATCH /v1/documents/{id}/metadata — Race-Free Metadata Evolution</a:t>
            </a:r>
          </a:p>
        </p:txBody>
      </p:sp>
      <p:pic>
        <p:nvPicPr>
          <p:cNvPr id="5" name="Picture 4" descr="11_patch_documents_metada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13232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508760"/>
            <a:ext cx="341345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69164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BBF24"/>
                </a:solidFill>
                <a:latin typeface="Segoe UI"/>
              </a:defRPr>
            </a:pPr>
            <a:r>
              <a:t>Execution Sequence Steps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1. Read &amp; OCC Check: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Strongly consistent read on DynamoDB DOC#{id}. Compares expected_metadata_revision with current_metadata_revision (returns 409 Conflict if mismatch).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2. S3 Annotation Retrieval: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Fetches existing JSON annotation from S3 version via GetObjectAnnotation.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3. Validation &amp; Schema Check: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Rejects any attempt to modify immutable fields. Increments revision to N+1 and validates complete merged payload via Ajv.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4. S3 Annotation Update: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Writes updated JSON annotation in-place via PutObjectAnnotationCommand.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5. Atomic Conditional Update: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Updates DynamoDB pointer with ConditionExpression: current_metadata_revision = :expRev, guaranteeing atomicity.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Secure Download, Soft Delete &amp; Restore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12, 13 &amp; 14: Direct Binary Access &amp; Non-Destructive Lifecycle Governance</a:t>
            </a:r>
          </a:p>
        </p:txBody>
      </p:sp>
      <p:pic>
        <p:nvPicPr>
          <p:cNvPr id="5" name="Picture 4" descr="12_get_documents_downlo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13_post_documents_soft_de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Download &amp; Compliance Lifecycle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Secure Direct Download (12): Generates short-lived (15-min) S3 presigned GET URL. Client streams binary directly from S3, eliminating Lambda egress costs.</a:t>
            </a:r>
            <a:br/>
            <a:r>
              <a:t>• Logical Soft Delete (13): Sets status: 'SOFT_DELETED' in DynamoDB and triggers CDC stream to remove document from OpenSearch index. S3 WORM binary and annotations remain completely untouched for regulatory compliance or restoration (14).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DERIVED READ MODEL &amp; TRANSFORMATION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On-Demand Format Conversion &amp; Derivative Caching (JPEG/PNG to PDF)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Dynamic In-Memory Transformation, S3 Derivative Caching &amp; WORM Lineage Invariance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32073" cy="342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2966313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⚡ In-Memory Transformation</a:t>
            </a:r>
          </a:p>
          <a:p>
            <a:pPr>
              <a:spcBef>
                <a:spcPts val="600"/>
              </a:spcBef>
              <a:defRPr sz="950" b="1">
                <a:solidFill>
                  <a:srgbClr val="FF9900"/>
                </a:solidFill>
                <a:latin typeface="Segoe UI"/>
              </a:defRPr>
            </a:pPr>
            <a:r>
              <a:t>Pure TypeScript Engine: </a:t>
            </a:r>
            <a:r>
              <a:rPr sz="900">
                <a:solidFill>
                  <a:srgbClr val="94A3B8"/>
                </a:solidFill>
                <a:latin typeface="Segoe UI"/>
              </a:rPr>
              <a:t>Uses lightweight pdf-lib for in-memory byte streaming without external binaries (ImageMagick/Ghostscript).</a:t>
            </a:r>
          </a:p>
          <a:p>
            <a:pPr>
              <a:spcBef>
                <a:spcPts val="600"/>
              </a:spcBef>
              <a:defRPr sz="950" b="1">
                <a:solidFill>
                  <a:srgbClr val="FF9900"/>
                </a:solidFill>
                <a:latin typeface="Segoe UI"/>
              </a:defRPr>
            </a:pPr>
            <a:r>
              <a:t>AWS Graviton (ARM64): </a:t>
            </a:r>
            <a:r>
              <a:rPr sz="900">
                <a:solidFill>
                  <a:srgbClr val="94A3B8"/>
                </a:solidFill>
                <a:latin typeface="Segoe UI"/>
              </a:rPr>
              <a:t>Executes within existing Query Lambdas in ~120ms with zero extra infrastructure overhead.</a:t>
            </a:r>
          </a:p>
          <a:p>
            <a:pPr>
              <a:spcBef>
                <a:spcPts val="600"/>
              </a:spcBef>
              <a:defRPr sz="950" b="1">
                <a:solidFill>
                  <a:srgbClr val="FF9900"/>
                </a:solidFill>
                <a:latin typeface="Segoe UI"/>
              </a:defRPr>
            </a:pPr>
            <a:r>
              <a:t>Dynamic Ingress: </a:t>
            </a:r>
            <a:r>
              <a:rPr sz="900">
                <a:solidFill>
                  <a:srgbClr val="94A3B8"/>
                </a:solidFill>
                <a:latin typeface="Segoe UI"/>
              </a:rPr>
              <a:t>Activated seamlessly via `?format=pdf` query parameter across Document, Download, and Version APIs.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9353" y="1508760"/>
            <a:ext cx="3332073" cy="342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2233" y="1691640"/>
            <a:ext cx="2966313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4D399"/>
                </a:solidFill>
                <a:latin typeface="Segoe UI"/>
              </a:defRPr>
            </a:pPr>
            <a:r>
              <a:t>🔒 Authority &amp; Derivative Cache</a:t>
            </a:r>
          </a:p>
          <a:p>
            <a:pPr>
              <a:spcBef>
                <a:spcPts val="600"/>
              </a:spcBef>
              <a:defRPr sz="950" b="1">
                <a:solidFill>
                  <a:srgbClr val="34D399"/>
                </a:solidFill>
                <a:latin typeface="Segoe UI"/>
              </a:defRPr>
            </a:pPr>
            <a:r>
              <a:t>Deterministic S3 Keying: </a:t>
            </a:r>
            <a:r>
              <a:rPr sz="900">
                <a:solidFill>
                  <a:srgbClr val="94A3B8"/>
                </a:solidFill>
                <a:latin typeface="Segoe UI"/>
              </a:rPr>
              <a:t>Cached under `derivatives/{class}/{id}/{s3_version_id}.pdf` for instant O(1) cache hits.</a:t>
            </a:r>
          </a:p>
          <a:p>
            <a:pPr>
              <a:spcBef>
                <a:spcPts val="600"/>
              </a:spcBef>
              <a:defRPr sz="950" b="1">
                <a:solidFill>
                  <a:srgbClr val="34D399"/>
                </a:solidFill>
                <a:latin typeface="Segoe UI"/>
              </a:defRPr>
            </a:pPr>
            <a:r>
              <a:t>WORM Boundary Invariant: </a:t>
            </a:r>
            <a:r>
              <a:rPr sz="900">
                <a:solidFill>
                  <a:srgbClr val="94A3B8"/>
                </a:solidFill>
                <a:latin typeface="Segoe UI"/>
              </a:rPr>
              <a:t>Conversions never mutate canonical S3 object versions or DynamoDB active control pointers.</a:t>
            </a:r>
          </a:p>
          <a:p>
            <a:pPr>
              <a:spcBef>
                <a:spcPts val="600"/>
              </a:spcBef>
              <a:defRPr sz="950" b="1">
                <a:solidFill>
                  <a:srgbClr val="34D399"/>
                </a:solidFill>
                <a:latin typeface="Segoe UI"/>
              </a:defRPr>
            </a:pPr>
            <a:r>
              <a:t>Origin Metadata Tracking: </a:t>
            </a:r>
            <a:r>
              <a:rPr sz="900">
                <a:solidFill>
                  <a:srgbClr val="94A3B8"/>
                </a:solidFill>
                <a:latin typeface="Segoe UI"/>
              </a:rPr>
              <a:t>S3 user metadata tags (`x-amz-meta-origin-s3-version-id`, `x-amz-meta-converted-by`) guarantee end-to-end lineage.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7186" y="1508760"/>
            <a:ext cx="3332073" cy="342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066" y="1691640"/>
            <a:ext cx="2966313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C084FC"/>
                </a:solidFill>
                <a:latin typeface="Segoe UI"/>
              </a:defRPr>
            </a:pPr>
            <a:r>
              <a:t>💰 FinOps &amp; Lifecycle Rules</a:t>
            </a:r>
          </a:p>
          <a:p>
            <a:pPr>
              <a:spcBef>
                <a:spcPts val="600"/>
              </a:spcBef>
              <a:defRPr sz="950" b="1">
                <a:solidFill>
                  <a:srgbClr val="C084FC"/>
                </a:solidFill>
                <a:latin typeface="Segoe UI"/>
              </a:defRPr>
            </a:pPr>
            <a:r>
              <a:t>14-Day Auto-Purge: </a:t>
            </a:r>
            <a:r>
              <a:rPr sz="900">
                <a:solidFill>
                  <a:srgbClr val="94A3B8"/>
                </a:solidFill>
                <a:latin typeface="Segoe UI"/>
              </a:rPr>
              <a:t>Automated S3 Lifecycle Rule permanently expires derivative cache files after 14 days to prevent storage bloat.</a:t>
            </a:r>
          </a:p>
          <a:p>
            <a:pPr>
              <a:spcBef>
                <a:spcPts val="600"/>
              </a:spcBef>
              <a:defRPr sz="950" b="1">
                <a:solidFill>
                  <a:srgbClr val="C084FC"/>
                </a:solidFill>
                <a:latin typeface="Segoe UI"/>
              </a:defRPr>
            </a:pPr>
            <a:r>
              <a:t>80%+ Cache Hit Ratio: </a:t>
            </a:r>
            <a:r>
              <a:rPr sz="900">
                <a:solidFill>
                  <a:srgbClr val="94A3B8"/>
                </a:solidFill>
                <a:latin typeface="Segoe UI"/>
              </a:rPr>
              <a:t>Frequent downloads reuse cached derivative S3 presigned URLs without triggering redundant compute.</a:t>
            </a:r>
          </a:p>
          <a:p>
            <a:pPr>
              <a:spcBef>
                <a:spcPts val="600"/>
              </a:spcBef>
              <a:defRPr sz="950" b="1">
                <a:solidFill>
                  <a:srgbClr val="C084FC"/>
                </a:solidFill>
                <a:latin typeface="Segoe UI"/>
              </a:defRPr>
            </a:pPr>
            <a:r>
              <a:t>Graviton Cost Efficiency: </a:t>
            </a:r>
            <a:r>
              <a:rPr sz="900">
                <a:solidFill>
                  <a:srgbClr val="94A3B8"/>
                </a:solidFill>
                <a:latin typeface="Segoe UI"/>
              </a:rPr>
              <a:t>ARM64 architecture provides 20% lower price-per-millisecond than x86_64.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End-to-End Client Delivery Workflow: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1. Client calls `GET /documents/{id}?format=pdf` → 2. Query Lambda checks S3 cache → 3. If cache miss: fetches raw JPEG/PNG, converts in memory via Graviton, writes derivative with origin metadata to S3 → 4. Returns 15-min presigned download URL for instant PDF streaming.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OpenSearch Search &amp; Deep Health Probe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15 &amp; 01: POST /v1/search &amp; GET /health</a:t>
            </a:r>
          </a:p>
        </p:txBody>
      </p:sp>
      <p:pic>
        <p:nvPicPr>
          <p:cNvPr id="5" name="Picture 4" descr="15_post_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1_get_healt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Search Querying &amp; Observability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Search Pipeline (15): OpenSearch Serverless collection executed with multi-attribute filtering and pagination. Bypasses primary S3/DynamoDB datastores for zero read load impact on transactional plane.</a:t>
            </a:r>
            <a:br/>
            <a:r>
              <a:t>• Deep Health Monitoring (01): Verifies active connectivity to DynamoDB, S3 Document Bucket, S3 Audit Bucket, SQS Queue, and OpenSearch Serverless collection in a single diagnostic sweep.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CLIENT INTEGRATION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Serverless Web Portal &amp; Client Integration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CloudFront + S3 SPA, Cognito JWT Authentication &amp; Client-Side SHA256 Checksums</a:t>
            </a:r>
          </a:p>
        </p:txBody>
      </p:sp>
      <p:pic>
        <p:nvPicPr>
          <p:cNvPr id="5" name="Picture 4" descr="ui_backend_integr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31520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08760"/>
            <a:ext cx="323057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691640"/>
            <a:ext cx="286481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Integration Highlights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1-Click Persona Simulator: </a:t>
            </a:r>
            <a:r>
              <a:rPr sz="850">
                <a:solidFill>
                  <a:srgbClr val="94A3B8"/>
                </a:solidFill>
                <a:latin typeface="Segoe UI"/>
              </a:rPr>
              <a:t>Instant token generation for Document.Admin, Document.Writer, Document.Reader, and Compliance Officer.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Automatic Token Ingress: </a:t>
            </a:r>
            <a:r>
              <a:rPr sz="850">
                <a:solidFill>
                  <a:srgbClr val="94A3B8"/>
                </a:solidFill>
                <a:latin typeface="Segoe UI"/>
              </a:rPr>
              <a:t>Signs all HTTP requests with Cognito OAuth 2.0 / OpenID Connect JWT tokens.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Bimodal File Upload UI: </a:t>
            </a:r>
            <a:r>
              <a:rPr sz="850">
                <a:solidFill>
                  <a:srgbClr val="94A3B8"/>
                </a:solidFill>
                <a:latin typeface="Segoe UI"/>
              </a:rPr>
              <a:t>Direct S3 presigned upload with client-side SHA256 hashing and inline binary upload (&lt; 4 MiB).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On-Demand PDF Delivery: </a:t>
            </a:r>
            <a:r>
              <a:rPr sz="850">
                <a:solidFill>
                  <a:srgbClr val="94A3B8"/>
                </a:solidFill>
                <a:latin typeface="Segoe UI"/>
              </a:rPr>
              <a:t>Dynamic in-browser PDF download button with automatic on-the-fly image conversion.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OpenSearch Discovery: </a:t>
            </a:r>
            <a:r>
              <a:rPr sz="850">
                <a:solidFill>
                  <a:srgbClr val="94A3B8"/>
                </a:solidFill>
                <a:latin typeface="Segoe UI"/>
              </a:rPr>
              <a:t>Real-time faceted exploration with dynamic status and attribute filters.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SECURITY &amp;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Enterprise Security, KMS Cryptography &amp; Fine-Grained RBAC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Cognito JWT Scopes, Customer Managed KMS Keys (CMK) &amp; WORM Immutability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Cognito RBAC Matrix Enforcement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057400"/>
          <a:ext cx="51206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731520"/>
                <a:gridCol w="731520"/>
                <a:gridCol w="731520"/>
                <a:gridCol w="731520"/>
              </a:tblGrid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Operation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Reader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Writer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Editor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Admin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/v1/documents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GET /v1/documents/{id}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GET /v1/download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/versions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PATCH /metadata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/soft-delete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/restore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/search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0" y="1554480"/>
            <a:ext cx="505937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737360"/>
            <a:ext cx="460217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Enterprise Cryptography &amp; WORM Controls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AWS KMS Customer Managed Key (CMK):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Central key (alias/doc-platform-mvp) with automatic annual rotation encrypting S3 buckets, DynamoDB, SQS queues, and CloudWatch log groups.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WORM Immutability Policy: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Explicit s3:DeleteObjectVersion DENY in IAM execution policies. Raw object versions cannot be overwritten or destroyed.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Zero Public S3 Access: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All S3 buckets enforce S3 Block Public Access with TLS 1.2+ SSL enforcement in bucket policies.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Micro-Perimeter IAM Roles: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Each Lambda has a dedicated execution role granting strictly required actions (e.g. Search Lambda cannot write to S3 or DynamoDB).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DEPLOYMENT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Infrastructure as Code: AWS CDK v2 Modular Stacks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Deterministic TypeScript CloudFormation Topologies with Zero Circular Dependencies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1. SecurityStack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Cognito User Pool, App Client &amp; KMS CMK Key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Provisions identity directory, RBAC groups &amp; central encryption key.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554480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5255" y="1645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2. StorageStack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S3 Primary Document Bucket &amp; S3 Audit Bucket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Configures versioning, encryption, CORS &amp; WORM protection policies.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15768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07208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3. SearchStack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OpenSearch Serverless Collection (documents-v1)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Sets up vector/search collection, encryption &amp; network security policies.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2715768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5255" y="2807208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4. MessagingStack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Amazon SQS Indexing Queue &amp; Dead-Letter Queue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Buffers CDC events with 3x retry limit and CloudWatch alarm triggers.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77056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968496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5. ControlPlaneStack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DynamoDB Table (doc-platform-mvp-control)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Provisions single-table design with PITR and DynamoDB Streams enabled.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8095" y="3877056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5255" y="3968496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6. ComputeStack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21 Graviton ARM64 AWS Lambda Functions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Deploys Command, Query, Search, Stream &amp; Indexer microservices.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038344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129784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7. ApiStack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Amazon API Gateway REST API &amp; Cognito Authorizer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Wires routes, authorizer, throttling limits, and CORS configuration.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8095" y="5038344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5255" y="5129784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8. ObservabilityStack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CloudWatch Alarms, Dashboards &amp; Global Tagging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Provisions DLQ/5xx alarms, operational dashboards, and global resource tags.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EXECUTIVE SUMMARY &amp;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Strategic Architecture Summary &amp; Decision Records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Why This Cloud-Native Blueprint Delivers Unrivaled Durability, Cost-Efficiency &amp; Compliance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1. Zero Idle TCO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Operational costs scale strictly with business transactions. Dev/Test and staging environments cost $0 when idle, eliminating multi-million dollar annual ECM licenses.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2. Infinite WORM Durability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S3 11 9s durability combined with immutable S3 Versioning and explicit IAM Deny policies provides airtight compliance against ransomware or accidental deletion.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Segoe UI"/>
              </a:defRPr>
            </a:pPr>
            <a:r>
              <a:t>3. Blast Radius Isolation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Decoupled CQRS storage architecture ensures search cluster re-indexing or outages never disrupt core document ingestion, metadata updates, or downloads.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246120"/>
          <a:ext cx="10728655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2560320"/>
                <a:gridCol w="3322015"/>
              </a:tblGrid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Architectural Decision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Chosen Approach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Alternative Rejected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Core Strategic Justification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Metadata Storage Model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S3 Native Annotations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S3 Headers (2 KB) / Sidecar Files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Overcomes 2 KB limit, avoids sidecar file proliferation, ready for S3 Iceberg SQL analytics.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Transactional Control Plane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Single-Table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Aurora PostgreSQL / DocumentDB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Single-digit millisecond latency, atomic OCC conditional updates, zero server maintenance.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Search Engine Topology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OpenSearch Serverless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Elasticsearch on EC2 / OpenSearch Cluster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Zero cluster sizing, auto-scaling OCUs, IAM SigV4 authentication, full blast radius isolation.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Format Transformations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On-Demand In-Memory PDF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Eager pre-conversion / Permanent storage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Pure TypeScript Graviton compute, 14-day auto-purge S3 Lifecycle, WORM lineage preserved.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Metadata Schema Validation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Build-Time GitOps (Ajv)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Database Schema Lookups on Cold Start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Zero cold start latency overhead (&lt;1ms validation), strict PR reviews and Git audit trail.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23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