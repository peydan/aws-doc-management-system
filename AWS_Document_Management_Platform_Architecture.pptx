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6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8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0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image" Target="../media/image13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005840"/>
            <a:ext cx="1645920" cy="73152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9900"/>
                </a:solidFill>
                <a:latin typeface="Segoe UI"/>
              </a:defRPr>
            </a:pPr>
            <a:r>
              <a:t>AWS ENTERPRISE SOLUTION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8FAFC"/>
                </a:solidFill>
                <a:latin typeface="Segoe UI"/>
              </a:defRPr>
            </a:pPr>
            <a:r>
              <a:t>Cloud-Native Enterprise Document Management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004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38BDF8"/>
                </a:solidFill>
                <a:latin typeface="Segoe UI"/>
              </a:defRPr>
            </a:pPr>
            <a:r>
              <a:t>Decoupled Serverless Architecture for Immutable Binary Versioning, Native S3 Metadata Annotations, Optimistic Concurrency &amp; CQRS Search Projections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389120"/>
            <a:ext cx="2542032" cy="15544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572000"/>
            <a:ext cx="21762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Segoe UI"/>
              </a:defRPr>
            </a:pPr>
            <a:r>
              <a:t>WORM Immutability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937760"/>
            <a:ext cx="217627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S3 versioning with strict IAM Deny policies for regulatory compliance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56432" y="4389120"/>
            <a:ext cx="2542032" cy="15544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39312" y="4572000"/>
            <a:ext cx="21762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4D399"/>
                </a:solidFill>
                <a:latin typeface="Segoe UI"/>
              </a:defRPr>
            </a:pPr>
            <a:r>
              <a:t>S3 Annotations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39312" y="4937760"/>
            <a:ext cx="217627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Overcomes 2 KB header limits; zero sidecar sprawl with native JSON binding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81344" y="4389120"/>
            <a:ext cx="2542032" cy="15544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64224" y="4572000"/>
            <a:ext cx="21762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9900"/>
                </a:solidFill>
                <a:latin typeface="Segoe UI"/>
              </a:defRPr>
            </a:pPr>
            <a:r>
              <a:t>DynamoDB OCC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64224" y="4937760"/>
            <a:ext cx="217627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Sub-10ms transactional control plane with atomic optimistic concurrency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06256" y="4389120"/>
            <a:ext cx="2542032" cy="15544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89136" y="4572000"/>
            <a:ext cx="21762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C084FC"/>
                </a:solidFill>
                <a:latin typeface="Segoe UI"/>
              </a:defRPr>
            </a:pPr>
            <a:r>
              <a:t>CQRS Search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89136" y="4937760"/>
            <a:ext cx="217627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OpenSearch Serverless derived read model with full blast radius isolation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6446520"/>
            <a:ext cx="10728655" cy="1371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6510528"/>
            <a:ext cx="77724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AWS Document Management Platform • Solution Architecture &amp; Sequence Specification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0" y="6510528"/>
            <a:ext cx="2316175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 b="1">
                <a:solidFill>
                  <a:srgbClr val="38BDF8"/>
                </a:solidFill>
                <a:latin typeface="Segoe UI"/>
              </a:defRPr>
            </a:pPr>
            <a:r>
              <a:t>1 / 22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  <a:latin typeface="Segoe UI"/>
              </a:defRPr>
            </a:pPr>
            <a:r>
              <a:t>STRATEGIC VALUE &amp;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8FAFC"/>
                </a:solidFill>
                <a:latin typeface="Segoe UI"/>
              </a:defRPr>
            </a:pPr>
            <a:r>
              <a:t>Executive Summary &amp; Enterprise Architecture Blueprint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15568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Modernizing Enterprise Content Management with Decoupled Cloud-Native Serverless Services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212080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73736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43F5E"/>
                </a:solidFill>
                <a:latin typeface="Segoe UI"/>
              </a:defRPr>
            </a:pPr>
            <a:r>
              <a:t>Enterprise Architecture Core Principles</a:t>
            </a:r>
          </a:p>
          <a:p>
            <a:pPr>
              <a:spcBef>
                <a:spcPts val="800"/>
              </a:spcBef>
              <a:defRPr sz="1100" b="1">
                <a:solidFill>
                  <a:srgbClr val="F8FAFC"/>
                </a:solidFill>
                <a:latin typeface="Segoe UI"/>
              </a:defRPr>
            </a:pPr>
            <a:r>
              <a:t>• Consumption-Based Elasticity: </a:t>
            </a:r>
            <a:r>
              <a:rPr b="0">
                <a:solidFill>
                  <a:srgbClr val="94A3B8"/>
                </a:solidFill>
              </a:rPr>
              <a:t>100% serverless compute and on-demand database scaling ensure zero idle cost and automatic capacity expansion.</a:t>
            </a:r>
          </a:p>
          <a:p>
            <a:pPr>
              <a:spcBef>
                <a:spcPts val="800"/>
              </a:spcBef>
              <a:defRPr sz="1100" b="1">
                <a:solidFill>
                  <a:srgbClr val="F8FAFC"/>
                </a:solidFill>
                <a:latin typeface="Segoe UI"/>
              </a:defRPr>
            </a:pPr>
            <a:r>
              <a:t>• Decoupled Authority Model: </a:t>
            </a:r>
            <a:r>
              <a:rPr b="0">
                <a:solidFill>
                  <a:srgbClr val="94A3B8"/>
                </a:solidFill>
              </a:rPr>
              <a:t>Separating binary storage, metadata indexing, and full-text search prevents distributed locking and cascading outages.</a:t>
            </a:r>
          </a:p>
          <a:p>
            <a:pPr>
              <a:spcBef>
                <a:spcPts val="800"/>
              </a:spcBef>
              <a:defRPr sz="1100" b="1">
                <a:solidFill>
                  <a:srgbClr val="F8FAFC"/>
                </a:solidFill>
                <a:latin typeface="Segoe UI"/>
              </a:defRPr>
            </a:pPr>
            <a:r>
              <a:t>• Native S3 Object Annotations: </a:t>
            </a:r>
            <a:r>
              <a:rPr b="0">
                <a:solidFill>
                  <a:srgbClr val="94A3B8"/>
                </a:solidFill>
              </a:rPr>
              <a:t>Eliminates 2 KB header limits without sidecar files, enabling direct schema-validated metadata mutations.</a:t>
            </a:r>
          </a:p>
          <a:p>
            <a:pPr>
              <a:spcBef>
                <a:spcPts val="800"/>
              </a:spcBef>
              <a:defRPr sz="1100" b="1">
                <a:solidFill>
                  <a:srgbClr val="F8FAFC"/>
                </a:solidFill>
                <a:latin typeface="Segoe UI"/>
              </a:defRPr>
            </a:pPr>
            <a:r>
              <a:t>• Enterprise WORM &amp; Auditability: </a:t>
            </a:r>
            <a:r>
              <a:rPr b="0">
                <a:solidFill>
                  <a:srgbClr val="94A3B8"/>
                </a:solidFill>
              </a:rPr>
              <a:t>Enforces immutable content versioning, strict optimistic concurrency control, and continuous CDC stream auditing.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554480"/>
            <a:ext cx="5212080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73736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4D399"/>
                </a:solidFill>
                <a:latin typeface="Segoe UI"/>
              </a:defRPr>
            </a:pPr>
            <a:r>
              <a:t>Key Architectural Capabilities &amp; Business Outcomes</a:t>
            </a:r>
          </a:p>
          <a:p>
            <a:pPr>
              <a:spcBef>
                <a:spcPts val="800"/>
              </a:spcBef>
              <a:defRPr sz="1100" b="1">
                <a:solidFill>
                  <a:srgbClr val="38BDF8"/>
                </a:solidFill>
                <a:latin typeface="Segoe UI"/>
              </a:defRPr>
            </a:pPr>
            <a:r>
              <a:t>✓ Zero-Idle TCO: </a:t>
            </a:r>
            <a:r>
              <a:rPr b="0">
                <a:solidFill>
                  <a:srgbClr val="94A3B8"/>
                </a:solidFill>
              </a:rPr>
              <a:t>True serverless compute (Lambda) and storage (S3/DynamoDB/OpenSearch Serverless). Zero compute cost during idle periods.</a:t>
            </a:r>
          </a:p>
          <a:p>
            <a:pPr>
              <a:spcBef>
                <a:spcPts val="800"/>
              </a:spcBef>
              <a:defRPr sz="1100" b="1">
                <a:solidFill>
                  <a:srgbClr val="38BDF8"/>
                </a:solidFill>
                <a:latin typeface="Segoe UI"/>
              </a:defRPr>
            </a:pPr>
            <a:r>
              <a:t>✓ 11 9s Durability &amp; Compliance: </a:t>
            </a:r>
            <a:r>
              <a:rPr b="0">
                <a:solidFill>
                  <a:srgbClr val="94A3B8"/>
                </a:solidFill>
              </a:rPr>
              <a:t>Amazon S3 raw binaries with WORM immutability; explicit s3:DeleteObjectVersion DENY policies prevent malicious deletion.</a:t>
            </a:r>
          </a:p>
          <a:p>
            <a:pPr>
              <a:spcBef>
                <a:spcPts val="800"/>
              </a:spcBef>
              <a:defRPr sz="1100" b="1">
                <a:solidFill>
                  <a:srgbClr val="38BDF8"/>
                </a:solidFill>
                <a:latin typeface="Segoe UI"/>
              </a:defRPr>
            </a:pPr>
            <a:r>
              <a:t>✓ Sub-Second Latency SLAs: </a:t>
            </a:r>
            <a:r>
              <a:rPr b="0">
                <a:solidFill>
                  <a:srgbClr val="94A3B8"/>
                </a:solidFill>
              </a:rPr>
              <a:t>Inline uploads in ~150ms; direct presigned downloads in &lt;50ms; sub-10ms DynamoDB transactional control plane.</a:t>
            </a:r>
          </a:p>
          <a:p>
            <a:pPr>
              <a:spcBef>
                <a:spcPts val="800"/>
              </a:spcBef>
              <a:defRPr sz="1100" b="1">
                <a:solidFill>
                  <a:srgbClr val="38BDF8"/>
                </a:solidFill>
                <a:latin typeface="Segoe UI"/>
              </a:defRPr>
            </a:pPr>
            <a:r>
              <a:t>✓ CQRS Blast Radius Isolation: </a:t>
            </a:r>
            <a:r>
              <a:rPr b="0">
                <a:solidFill>
                  <a:srgbClr val="94A3B8"/>
                </a:solidFill>
              </a:rPr>
              <a:t>OpenSearch search index failures or re-indexing operations never impact core document downloads, uploads, or metadata edits.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6446520"/>
            <a:ext cx="10728655" cy="1371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6510528"/>
            <a:ext cx="77724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AWS Document Management Platform • Solution Architecture &amp; Sequence Specification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6510528"/>
            <a:ext cx="2316175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 b="1">
                <a:solidFill>
                  <a:srgbClr val="38BDF8"/>
                </a:solidFill>
                <a:latin typeface="Segoe UI"/>
              </a:defRPr>
            </a:pPr>
            <a:r>
              <a:t>2 / 22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  <a:latin typeface="Segoe UI"/>
              </a:defRPr>
            </a:pPr>
            <a:r>
              <a:t>SYSTEM TOPOLOGY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8FAFC"/>
                </a:solidFill>
                <a:latin typeface="Segoe UI"/>
              </a:defRPr>
            </a:pPr>
            <a:r>
              <a:t>End-to-End Solution Architecture Blueprint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15568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Comprehensive AWS Serverless Topology, Ingress Control, Microservice Compute &amp; Storage Layers</a:t>
            </a:r>
          </a:p>
        </p:txBody>
      </p:sp>
      <p:pic>
        <p:nvPicPr>
          <p:cNvPr id="5" name="Picture 4" descr="aws_document_management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08760"/>
            <a:ext cx="7498079" cy="47091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412480" y="1508760"/>
            <a:ext cx="3047695" cy="47091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0" y="1691640"/>
            <a:ext cx="268193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9900"/>
                </a:solidFill>
                <a:latin typeface="Segoe UI"/>
              </a:defRPr>
            </a:pPr>
            <a:r>
              <a:t>Architecture Highlights</a:t>
            </a:r>
          </a:p>
          <a:p>
            <a:pPr>
              <a:spcBef>
                <a:spcPts val="600"/>
              </a:spcBef>
              <a:defRPr sz="1000" b="1">
                <a:solidFill>
                  <a:srgbClr val="38BDF8"/>
                </a:solidFill>
                <a:latin typeface="Segoe UI"/>
              </a:defRPr>
            </a:pPr>
            <a:r>
              <a:t>API Gateway Ingress:</a:t>
            </a:r>
          </a:p>
          <a:p>
            <a:pPr>
              <a:spcBef>
                <a:spcPts val="100"/>
              </a:spcBef>
              <a:defRPr sz="900">
                <a:solidFill>
                  <a:srgbClr val="94A3B8"/>
                </a:solidFill>
                <a:latin typeface="Segoe UI"/>
              </a:defRPr>
            </a:pPr>
            <a:r>
              <a:t>Handles REST routing, Cognito JWT token validation, and binary payload passthrough (*/*).</a:t>
            </a:r>
          </a:p>
          <a:p>
            <a:pPr>
              <a:spcBef>
                <a:spcPts val="600"/>
              </a:spcBef>
              <a:defRPr sz="1000" b="1">
                <a:solidFill>
                  <a:srgbClr val="34D399"/>
                </a:solidFill>
                <a:latin typeface="Segoe UI"/>
              </a:defRPr>
            </a:pPr>
            <a:r>
              <a:t>Lambda Micro-Perimeters:</a:t>
            </a:r>
          </a:p>
          <a:p>
            <a:pPr>
              <a:spcBef>
                <a:spcPts val="100"/>
              </a:spcBef>
              <a:defRPr sz="900">
                <a:solidFill>
                  <a:srgbClr val="94A3B8"/>
                </a:solidFill>
                <a:latin typeface="Segoe UI"/>
              </a:defRPr>
            </a:pPr>
            <a:r>
              <a:t>Stateless Command, Query, and Search handlers operating under strict least-privilege IAM roles.</a:t>
            </a:r>
          </a:p>
          <a:p>
            <a:pPr>
              <a:spcBef>
                <a:spcPts val="600"/>
              </a:spcBef>
              <a:defRPr sz="1000" b="1">
                <a:solidFill>
                  <a:srgbClr val="FBBF24"/>
                </a:solidFill>
                <a:latin typeface="Segoe UI"/>
              </a:defRPr>
            </a:pPr>
            <a:r>
              <a:t>Native S3 Annotations:</a:t>
            </a:r>
          </a:p>
          <a:p>
            <a:pPr>
              <a:spcBef>
                <a:spcPts val="100"/>
              </a:spcBef>
              <a:defRPr sz="900">
                <a:solidFill>
                  <a:srgbClr val="94A3B8"/>
                </a:solidFill>
                <a:latin typeface="Segoe UI"/>
              </a:defRPr>
            </a:pPr>
            <a:r>
              <a:t>Authoritative JSON metadata bound directly to S3 object versions (document-metadata).</a:t>
            </a:r>
          </a:p>
          <a:p>
            <a:pPr>
              <a:spcBef>
                <a:spcPts val="600"/>
              </a:spcBef>
              <a:defRPr sz="1000" b="1">
                <a:solidFill>
                  <a:srgbClr val="C084FC"/>
                </a:solidFill>
                <a:latin typeface="Segoe UI"/>
              </a:defRPr>
            </a:pPr>
            <a:r>
              <a:t>DynamoDB Control Table:</a:t>
            </a:r>
          </a:p>
          <a:p>
            <a:pPr>
              <a:spcBef>
                <a:spcPts val="100"/>
              </a:spcBef>
              <a:defRPr sz="900">
                <a:solidFill>
                  <a:srgbClr val="94A3B8"/>
                </a:solidFill>
                <a:latin typeface="Segoe UI"/>
              </a:defRPr>
            </a:pPr>
            <a:r>
              <a:t>Single-table design tracking active pointers, OCC revisions, and upload sessions.</a:t>
            </a:r>
          </a:p>
          <a:p>
            <a:pPr>
              <a:spcBef>
                <a:spcPts val="600"/>
              </a:spcBef>
              <a:defRPr sz="1000" b="1">
                <a:solidFill>
                  <a:srgbClr val="38BDF8"/>
                </a:solidFill>
                <a:latin typeface="Segoe UI"/>
              </a:defRPr>
            </a:pPr>
            <a:r>
              <a:t>Async CDC Pipeline:</a:t>
            </a:r>
          </a:p>
          <a:p>
            <a:pPr>
              <a:spcBef>
                <a:spcPts val="100"/>
              </a:spcBef>
              <a:defRPr sz="900">
                <a:solidFill>
                  <a:srgbClr val="94A3B8"/>
                </a:solidFill>
                <a:latin typeface="Segoe UI"/>
              </a:defRPr>
            </a:pPr>
            <a:r>
              <a:t>DynamoDB Streams feed S3 Audit Bucket &amp; SQS Indexing Queue to hydrate OpenSearch Serverless.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6446520"/>
            <a:ext cx="10728655" cy="1371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510528"/>
            <a:ext cx="77724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AWS Document Management Platform • Solution Architecture &amp; Sequence Specification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0" y="6510528"/>
            <a:ext cx="2316175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 b="1">
                <a:solidFill>
                  <a:srgbClr val="38BDF8"/>
                </a:solidFill>
                <a:latin typeface="Segoe UI"/>
              </a:defRPr>
            </a:pPr>
            <a:r>
              <a:t>3 / 22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  <a:latin typeface="Segoe UI"/>
              </a:defRPr>
            </a:pPr>
            <a:r>
              <a:t>CORE DATA GOVERNANCE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8FAFC"/>
                </a:solidFill>
                <a:latin typeface="Segoe UI"/>
              </a:defRPr>
            </a:pPr>
            <a:r>
              <a:t>The 5-Tier Authority &amp; Consistency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15568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Eliminating Distributed 2-Phase Transactions by Assigning Strict Authority Boundaries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10728655" cy="868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45920"/>
            <a:ext cx="2926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38BDF8"/>
                </a:solidFill>
                <a:latin typeface="Segoe UI"/>
              </a:defRPr>
            </a:pPr>
            <a:r>
              <a:t>1. Content Authority</a:t>
            </a:r>
          </a:p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Amazon S3 (Primary Bucket)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23360" y="1645920"/>
            <a:ext cx="7223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F8FAFC"/>
                </a:solidFill>
                <a:latin typeface="Segoe UI"/>
              </a:defRPr>
            </a:pPr>
            <a:r>
              <a:t>Immutable raw binary storage (PDF, TIFF, Office). Versioned objects with strict s3:DeleteObjectVersion DENY policies for absolute WORM compliance. Raw bytes are cryptographically locked via SHA-256.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487168"/>
            <a:ext cx="10728655" cy="868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624328"/>
            <a:ext cx="2926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34D399"/>
                </a:solidFill>
                <a:latin typeface="Segoe UI"/>
              </a:defRPr>
            </a:pPr>
            <a:r>
              <a:t>2. Metadata Authority</a:t>
            </a:r>
          </a:p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Amazon S3 Annotations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23360" y="2624328"/>
            <a:ext cx="7223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F8FAFC"/>
                </a:solidFill>
                <a:latin typeface="Segoe UI"/>
              </a:defRPr>
            </a:pPr>
            <a:r>
              <a:t>Full structured JSON metadata stored as authoritative named annotations (document-metadata) bound directly to S3 object versions. Conforms strictly to schema bank.document-metadata/1.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465576"/>
            <a:ext cx="10728655" cy="868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602736"/>
            <a:ext cx="2926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FF9900"/>
                </a:solidFill>
                <a:latin typeface="Segoe UI"/>
              </a:defRPr>
            </a:pPr>
            <a:r>
              <a:t>3. Control Plane Authority</a:t>
            </a:r>
          </a:p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Amazon DynamoDB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23360" y="3602736"/>
            <a:ext cx="7223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F8FAFC"/>
                </a:solidFill>
                <a:latin typeface="Segoe UI"/>
              </a:defRPr>
            </a:pPr>
            <a:r>
              <a:t>Single-table design tracking active document pointers (DOC#{id}), version lineages (VER#{pad}), optimistic concurrency locks, and upload sessions at sub-10ms latency.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443984"/>
            <a:ext cx="10728655" cy="868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581144"/>
            <a:ext cx="2926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C084FC"/>
                </a:solidFill>
                <a:latin typeface="Segoe UI"/>
              </a:defRPr>
            </a:pPr>
            <a:r>
              <a:t>4. Search Read Projection</a:t>
            </a:r>
          </a:p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OpenSearch Serverless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23360" y="4581144"/>
            <a:ext cx="7223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F8FAFC"/>
                </a:solidFill>
                <a:latin typeface="Segoe UI"/>
              </a:defRPr>
            </a:pPr>
            <a:r>
              <a:t>Derived CQRS read model (documents-v1) hydrated asynchronously via DynamoDB Streams and SQS. Document ingestion and downloads remain 100% operational if search is offline.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422392"/>
            <a:ext cx="10728655" cy="868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5559552"/>
            <a:ext cx="2926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F43F5E"/>
                </a:solidFill>
                <a:latin typeface="Segoe UI"/>
              </a:defRPr>
            </a:pPr>
            <a:r>
              <a:t>5. Non-Repudiation Audit</a:t>
            </a:r>
          </a:p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Amazon S3 Audit Bucket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23360" y="5559552"/>
            <a:ext cx="7223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F8FAFC"/>
                </a:solidFill>
                <a:latin typeface="Segoe UI"/>
              </a:defRPr>
            </a:pPr>
            <a:r>
              <a:t>Immutable CDC mutation stream logs automatically written to a KMS-encrypted, date-partitioned audit bucket (audit/{date}/{doc_id}_{event_id}.json) for forensics and compliance.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6446520"/>
            <a:ext cx="10728655" cy="1371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6510528"/>
            <a:ext cx="77724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AWS Document Management Platform • Solution Architecture &amp; Sequence Specification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0" y="6510528"/>
            <a:ext cx="2316175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 b="1">
                <a:solidFill>
                  <a:srgbClr val="38BDF8"/>
                </a:solidFill>
                <a:latin typeface="Segoe UI"/>
              </a:defRPr>
            </a:pPr>
            <a:r>
              <a:t>4 / 22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  <a:latin typeface="Segoe UI"/>
              </a:defRPr>
            </a:pPr>
            <a:r>
              <a:t>DATA ARCHITECTURE DEEP DIVE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8FAFC"/>
                </a:solidFill>
                <a:latin typeface="Segoe UI"/>
              </a:defRPr>
            </a:pPr>
            <a:r>
              <a:t>Storage Interplay: S3 Annotations vs. DynamoDB Control Table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15568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Why Both Are Essential: Resolving Object Storage Limitations with Transactional Database Speed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508760"/>
          <a:ext cx="10728655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743200"/>
                <a:gridCol w="2926080"/>
                <a:gridCol w="3047695"/>
              </a:tblGrid>
              <a:tr h="666205">
                <a:tc>
                  <a:txBody>
                    <a:bodyPr wrap="square" lIns="109728" rIns="109728" tIns="73152" bIns="73152"/>
                    <a:lstStyle/>
                    <a:p>
                      <a:pPr>
                        <a:defRPr sz="1000" b="1">
                          <a:solidFill>
                            <a:srgbClr val="FF9900"/>
                          </a:solidFill>
                          <a:latin typeface="Segoe UI"/>
                        </a:defRPr>
                      </a:pPr>
                      <a:r>
                        <a:t>Dimension / Capability</a:t>
                      </a:r>
                    </a:p>
                  </a:txBody>
                  <a:tcPr anchor="ctr">
                    <a:solidFill>
                      <a:srgbClr val="18202F"/>
                    </a:solidFill>
                  </a:tcPr>
                </a:tc>
                <a:tc>
                  <a:txBody>
                    <a:bodyPr wrap="square" lIns="109728" rIns="109728" tIns="73152" bIns="73152"/>
                    <a:lstStyle/>
                    <a:p>
                      <a:pPr>
                        <a:defRPr sz="1000" b="1">
                          <a:solidFill>
                            <a:srgbClr val="38BDF8"/>
                          </a:solidFill>
                          <a:latin typeface="Segoe UI"/>
                        </a:defRPr>
                      </a:pPr>
                      <a:r>
                        <a:t>Amazon S3 &amp; S3 Annotations</a:t>
                      </a:r>
                    </a:p>
                  </a:txBody>
                  <a:tcPr anchor="ctr">
                    <a:solidFill>
                      <a:srgbClr val="18202F"/>
                    </a:solidFill>
                  </a:tcPr>
                </a:tc>
                <a:tc>
                  <a:txBody>
                    <a:bodyPr wrap="square" lIns="109728" rIns="109728" tIns="73152" bIns="73152"/>
                    <a:lstStyle/>
                    <a:p>
                      <a:pPr>
                        <a:defRPr sz="1000" b="1">
                          <a:solidFill>
                            <a:srgbClr val="38BDF8"/>
                          </a:solidFill>
                          <a:latin typeface="Segoe UI"/>
                        </a:defRPr>
                      </a:pPr>
                      <a:r>
                        <a:t>Amazon DynamoDB Control Table</a:t>
                      </a:r>
                    </a:p>
                  </a:txBody>
                  <a:tcPr anchor="ctr">
                    <a:solidFill>
                      <a:srgbClr val="18202F"/>
                    </a:solidFill>
                  </a:tcPr>
                </a:tc>
                <a:tc>
                  <a:txBody>
                    <a:bodyPr wrap="square" lIns="109728" rIns="109728" tIns="73152" bIns="73152"/>
                    <a:lstStyle/>
                    <a:p>
                      <a:pPr>
                        <a:defRPr sz="1000" b="1">
                          <a:solidFill>
                            <a:srgbClr val="38BDF8"/>
                          </a:solidFill>
                          <a:latin typeface="Segoe UI"/>
                        </a:defRPr>
                      </a:pPr>
                      <a:r>
                        <a:t>Why DynamoDB Is Essential</a:t>
                      </a:r>
                    </a:p>
                  </a:txBody>
                  <a:tcPr anchor="ctr">
                    <a:solidFill>
                      <a:srgbClr val="18202F"/>
                    </a:solidFill>
                  </a:tcPr>
                </a:tc>
              </a:tr>
              <a:tr h="666205">
                <a:tc>
                  <a:txBody>
                    <a:bodyPr wrap="square" lIns="109728" rIns="109728" tIns="73152" bIns="73152"/>
                    <a:lstStyle/>
                    <a:p>
                      <a:pPr>
                        <a:defRPr sz="900" b="1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Authoritative Metadata</a:t>
                      </a:r>
                    </a:p>
                  </a:txBody>
                  <a:tcPr anchor="ctr">
                    <a:solidFill>
                      <a:srgbClr val="161E2E"/>
                    </a:solidFill>
                  </a:tcPr>
                </a:tc>
                <a:tc>
                  <a:txBody>
                    <a:bodyPr wrap="square" lIns="109728" rIns="109728" tIns="73152" bIns="73152"/>
                    <a:lstStyle/>
                    <a:p>
                      <a:pPr>
                        <a:defRPr sz="9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Primary Authority (Holds full JSON schema payload)</a:t>
                      </a:r>
                    </a:p>
                  </a:txBody>
                  <a:tcPr anchor="ctr">
                    <a:solidFill>
                      <a:srgbClr val="161E2E"/>
                    </a:solidFill>
                  </a:tcPr>
                </a:tc>
                <a:tc>
                  <a:txBody>
                    <a:bodyPr wrap="square" lIns="109728" rIns="109728" tIns="73152" bIns="73152"/>
                    <a:lstStyle/>
                    <a:p>
                      <a:pPr>
                        <a:defRPr sz="9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Stores lightweight pointer, revision count &amp; ETag</a:t>
                      </a:r>
                    </a:p>
                  </a:txBody>
                  <a:tcPr anchor="ctr">
                    <a:solidFill>
                      <a:srgbClr val="161E2E"/>
                    </a:solidFill>
                  </a:tcPr>
                </a:tc>
                <a:tc>
                  <a:txBody>
                    <a:bodyPr wrap="square" lIns="109728" rIns="109728" tIns="73152" bIns="73152"/>
                    <a:lstStyle/>
                    <a:p>
                      <a:pPr>
                        <a:defRPr sz="900">
                          <a:solidFill>
                            <a:srgbClr val="34D399"/>
                          </a:solidFill>
                          <a:latin typeface="Segoe UI"/>
                        </a:defRPr>
                      </a:pPr>
                      <a:r>
                        <a:t>S3 Annotations bind rich data to object versions; enables Iceberg SQL queries.</a:t>
                      </a:r>
                    </a:p>
                  </a:txBody>
                  <a:tcPr anchor="ctr">
                    <a:solidFill>
                      <a:srgbClr val="161E2E"/>
                    </a:solidFill>
                  </a:tcPr>
                </a:tc>
              </a:tr>
              <a:tr h="666205">
                <a:tc>
                  <a:txBody>
                    <a:bodyPr wrap="square" lIns="109728" rIns="109728" tIns="73152" bIns="73152"/>
                    <a:lstStyle/>
                    <a:p>
                      <a:pPr>
                        <a:defRPr sz="900" b="1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Optimistic Concurrency (OCC)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lIns="109728" rIns="109728" tIns="73152" bIns="73152"/>
                    <a:lstStyle/>
                    <a:p>
                      <a:pPr>
                        <a:defRPr sz="9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No conditional expressions on arbitrary JSON attributes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lIns="109728" rIns="109728" tIns="73152" bIns="73152"/>
                    <a:lstStyle/>
                    <a:p>
                      <a:pPr>
                        <a:defRPr sz="9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Primary: Atomic ConditionExpression on revision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lIns="109728" rIns="109728" tIns="73152" bIns="73152"/>
                    <a:lstStyle/>
                    <a:p>
                      <a:pPr>
                        <a:defRPr sz="900">
                          <a:solidFill>
                            <a:srgbClr val="34D399"/>
                          </a:solidFill>
                          <a:latin typeface="Segoe UI"/>
                        </a:defRPr>
                      </a:pPr>
                      <a:r>
                        <a:t>DynamoDB atomically verifies current_metadata_revision = :exp to prevent lost updates.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666205">
                <a:tc>
                  <a:txBody>
                    <a:bodyPr wrap="square" lIns="109728" rIns="109728" tIns="73152" bIns="73152"/>
                    <a:lstStyle/>
                    <a:p>
                      <a:pPr>
                        <a:defRPr sz="900" b="1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Active Pointer Resolution</a:t>
                      </a:r>
                    </a:p>
                  </a:txBody>
                  <a:tcPr anchor="ctr">
                    <a:solidFill>
                      <a:srgbClr val="161E2E"/>
                    </a:solidFill>
                  </a:tcPr>
                </a:tc>
                <a:tc>
                  <a:txBody>
                    <a:bodyPr wrap="square" lIns="109728" rIns="109728" tIns="73152" bIns="73152"/>
                    <a:lstStyle/>
                    <a:p>
                      <a:pPr>
                        <a:defRPr sz="9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Requires listing all object versions in bucket</a:t>
                      </a:r>
                    </a:p>
                  </a:txBody>
                  <a:tcPr anchor="ctr">
                    <a:solidFill>
                      <a:srgbClr val="161E2E"/>
                    </a:solidFill>
                  </a:tcPr>
                </a:tc>
                <a:tc>
                  <a:txBody>
                    <a:bodyPr wrap="square" lIns="109728" rIns="109728" tIns="73152" bIns="73152"/>
                    <a:lstStyle/>
                    <a:p>
                      <a:pPr>
                        <a:defRPr sz="9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Primary: O(1) sub-millisecond key-value lookup</a:t>
                      </a:r>
                    </a:p>
                  </a:txBody>
                  <a:tcPr anchor="ctr">
                    <a:solidFill>
                      <a:srgbClr val="161E2E"/>
                    </a:solidFill>
                  </a:tcPr>
                </a:tc>
                <a:tc>
                  <a:txBody>
                    <a:bodyPr wrap="square" lIns="109728" rIns="109728" tIns="73152" bIns="73152"/>
                    <a:lstStyle/>
                    <a:p>
                      <a:pPr>
                        <a:defRPr sz="900">
                          <a:solidFill>
                            <a:srgbClr val="34D399"/>
                          </a:solidFill>
                          <a:latin typeface="Segoe UI"/>
                        </a:defRPr>
                      </a:pPr>
                      <a:r>
                        <a:t>DynamoDB maps DOC#{id} to latest active s3_version_id without slow S3 API listings.</a:t>
                      </a:r>
                    </a:p>
                  </a:txBody>
                  <a:tcPr anchor="ctr">
                    <a:solidFill>
                      <a:srgbClr val="161E2E"/>
                    </a:solidFill>
                  </a:tcPr>
                </a:tc>
              </a:tr>
              <a:tr h="666205">
                <a:tc>
                  <a:txBody>
                    <a:bodyPr wrap="square" lIns="109728" rIns="109728" tIns="73152" bIns="73152"/>
                    <a:lstStyle/>
                    <a:p>
                      <a:pPr>
                        <a:defRPr sz="900" b="1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Version History Lineage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lIns="109728" rIns="109728" tIns="73152" bIns="73152"/>
                    <a:lstStyle/>
                    <a:p>
                      <a:pPr>
                        <a:defRPr sz="9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Non-sequential, opaque S3 version string IDs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lIns="109728" rIns="109728" tIns="73152" bIns="73152"/>
                    <a:lstStyle/>
                    <a:p>
                      <a:pPr>
                        <a:defRPr sz="9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Primary: Sort-Key indexed query begins_with(VER#)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lIns="109728" rIns="109728" tIns="73152" bIns="73152"/>
                    <a:lstStyle/>
                    <a:p>
                      <a:pPr>
                        <a:defRPr sz="900">
                          <a:solidFill>
                            <a:srgbClr val="34D399"/>
                          </a:solidFill>
                          <a:latin typeface="Segoe UI"/>
                        </a:defRPr>
                      </a:pPr>
                      <a:r>
                        <a:t>Enables instant retrieval of ordered history (v1, v2, v3) in a single fast read query.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666205">
                <a:tc>
                  <a:txBody>
                    <a:bodyPr wrap="square" lIns="109728" rIns="109728" tIns="73152" bIns="73152"/>
                    <a:lstStyle/>
                    <a:p>
                      <a:pPr>
                        <a:defRPr sz="900" b="1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Multi-Item ACID Transactions</a:t>
                      </a:r>
                    </a:p>
                  </a:txBody>
                  <a:tcPr anchor="ctr">
                    <a:solidFill>
                      <a:srgbClr val="161E2E"/>
                    </a:solidFill>
                  </a:tcPr>
                </a:tc>
                <a:tc>
                  <a:txBody>
                    <a:bodyPr wrap="square" lIns="109728" rIns="109728" tIns="73152" bIns="73152"/>
                    <a:lstStyle/>
                    <a:p>
                      <a:pPr>
                        <a:defRPr sz="9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No multi-object transactional commit API</a:t>
                      </a:r>
                    </a:p>
                  </a:txBody>
                  <a:tcPr anchor="ctr">
                    <a:solidFill>
                      <a:srgbClr val="161E2E"/>
                    </a:solidFill>
                  </a:tcPr>
                </a:tc>
                <a:tc>
                  <a:txBody>
                    <a:bodyPr wrap="square" lIns="109728" rIns="109728" tIns="73152" bIns="73152"/>
                    <a:lstStyle/>
                    <a:p>
                      <a:pPr>
                        <a:defRPr sz="9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Primary: TransactWriteItems binds pointer &amp; locks</a:t>
                      </a:r>
                    </a:p>
                  </a:txBody>
                  <a:tcPr anchor="ctr">
                    <a:solidFill>
                      <a:srgbClr val="161E2E"/>
                    </a:solidFill>
                  </a:tcPr>
                </a:tc>
                <a:tc>
                  <a:txBody>
                    <a:bodyPr wrap="square" lIns="109728" rIns="109728" tIns="73152" bIns="73152"/>
                    <a:lstStyle/>
                    <a:p>
                      <a:pPr>
                        <a:defRPr sz="900">
                          <a:solidFill>
                            <a:srgbClr val="34D399"/>
                          </a:solidFill>
                          <a:latin typeface="Segoe UI"/>
                        </a:defRPr>
                      </a:pPr>
                      <a:r>
                        <a:t>Atomically updates pointer, records version item, and commits idempotency lock in 1 call.</a:t>
                      </a:r>
                    </a:p>
                  </a:txBody>
                  <a:tcPr anchor="ctr">
                    <a:solidFill>
                      <a:srgbClr val="161E2E"/>
                    </a:solidFill>
                  </a:tcPr>
                </a:tc>
              </a:tr>
              <a:tr h="666210">
                <a:tc>
                  <a:txBody>
                    <a:bodyPr wrap="square" lIns="109728" rIns="109728" tIns="73152" bIns="73152"/>
                    <a:lstStyle/>
                    <a:p>
                      <a:pPr>
                        <a:defRPr sz="900" b="1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Change Data Capture (CDC)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lIns="109728" rIns="109728" tIns="73152" bIns="73152"/>
                    <a:lstStyle/>
                    <a:p>
                      <a:pPr>
                        <a:defRPr sz="9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S3 Event Notifications lack before/after diffs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lIns="109728" rIns="109728" tIns="73152" bIns="73152"/>
                    <a:lstStyle/>
                    <a:p>
                      <a:pPr>
                        <a:defRPr sz="9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Primary: Ordered DynamoDB Streams (Old/New)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lIns="109728" rIns="109728" tIns="73152" bIns="73152"/>
                    <a:lstStyle/>
                    <a:p>
                      <a:pPr>
                        <a:defRPr sz="900">
                          <a:solidFill>
                            <a:srgbClr val="34D399"/>
                          </a:solidFill>
                          <a:latin typeface="Segoe UI"/>
                        </a:defRPr>
                      </a:pPr>
                      <a:r>
                        <a:t>Emits rich event streams to asynchronously drive the S3 audit logger and search index.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731520" y="6446520"/>
            <a:ext cx="10728655" cy="1371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510528"/>
            <a:ext cx="77724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AWS Document Management Platform • Solution Architecture &amp; Sequence Specification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510528"/>
            <a:ext cx="2316175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 b="1">
                <a:solidFill>
                  <a:srgbClr val="38BDF8"/>
                </a:solidFill>
                <a:latin typeface="Segoe UI"/>
              </a:defRPr>
            </a:pPr>
            <a:r>
              <a:t>5 / 22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  <a:latin typeface="Segoe UI"/>
              </a:defRPr>
            </a:pPr>
            <a:r>
              <a:t>EVENT ARCHITECTURE &amp; CQRS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8FAFC"/>
                </a:solidFill>
                <a:latin typeface="Segoe UI"/>
              </a:defRPr>
            </a:pPr>
            <a:r>
              <a:t>Asynchronous CDC &amp; Search Hydration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15568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Event-Driven Downstream Decoupling: DynamoDB Streams → S3 Audit Bucket &amp; SQS → OpenSearch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486400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737360"/>
            <a:ext cx="50292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38BDF8"/>
                </a:solidFill>
                <a:latin typeface="Segoe UI"/>
              </a:defRPr>
            </a:pPr>
            <a:r>
              <a:t>Pipeline Execution Lifecycle</a:t>
            </a:r>
          </a:p>
          <a:p>
            <a:pPr>
              <a:spcBef>
                <a:spcPts val="800"/>
              </a:spcBef>
              <a:defRPr sz="1050" b="1">
                <a:solidFill>
                  <a:srgbClr val="34D399"/>
                </a:solidFill>
                <a:latin typeface="Segoe UI"/>
              </a:defRPr>
            </a:pPr>
            <a:r>
              <a:t>1. Transactional Commit in DynamoDB:</a:t>
            </a:r>
          </a:p>
          <a:p>
            <a:pPr>
              <a:spcBef>
                <a:spcPts val="200"/>
              </a:spcBef>
              <a:defRPr sz="950">
                <a:solidFill>
                  <a:srgbClr val="F8FAFC"/>
                </a:solidFill>
                <a:latin typeface="Segoe UI"/>
              </a:defRPr>
            </a:pPr>
            <a:r>
              <a:t>Upload, versioning, metadata edit, or soft-delete commits to DynamoDB and emits a CDC record to DynamoDB Streams.</a:t>
            </a:r>
          </a:p>
          <a:p>
            <a:pPr>
              <a:spcBef>
                <a:spcPts val="800"/>
              </a:spcBef>
              <a:defRPr sz="1050" b="1">
                <a:solidFill>
                  <a:srgbClr val="34D399"/>
                </a:solidFill>
                <a:latin typeface="Segoe UI"/>
              </a:defRPr>
            </a:pPr>
            <a:r>
              <a:t>2. Stream Processor Lambda:</a:t>
            </a:r>
          </a:p>
          <a:p>
            <a:pPr>
              <a:spcBef>
                <a:spcPts val="200"/>
              </a:spcBef>
              <a:defRPr sz="950">
                <a:solidFill>
                  <a:srgbClr val="F8FAFC"/>
                </a:solidFill>
                <a:latin typeface="Segoe UI"/>
              </a:defRPr>
            </a:pPr>
            <a:r>
              <a:t>Consumes batches of stream records in real time and triggers two parallel operations:</a:t>
            </a:r>
            <a:br/>
            <a:r>
              <a:t> • Writes an immutable JSON audit log to the S3 Audit Bucket.</a:t>
            </a:r>
            <a:br/>
            <a:r>
              <a:t> • Dispatches an indexing message to the Amazon SQS Indexing Queue.</a:t>
            </a:r>
          </a:p>
          <a:p>
            <a:pPr>
              <a:spcBef>
                <a:spcPts val="800"/>
              </a:spcBef>
              <a:defRPr sz="1050" b="1">
                <a:solidFill>
                  <a:srgbClr val="34D399"/>
                </a:solidFill>
                <a:latin typeface="Segoe UI"/>
              </a:defRPr>
            </a:pPr>
            <a:r>
              <a:t>3. SQS Indexer Consumer Lambda:</a:t>
            </a:r>
          </a:p>
          <a:p>
            <a:pPr>
              <a:spcBef>
                <a:spcPts val="200"/>
              </a:spcBef>
              <a:defRPr sz="950">
                <a:solidFill>
                  <a:srgbClr val="F8FAFC"/>
                </a:solidFill>
                <a:latin typeface="Segoe UI"/>
              </a:defRPr>
            </a:pPr>
            <a:r>
              <a:t>Pulls batches from SQS, reads the authoritative S3 annotation, and updates the OpenSearch Serverless collection (documents-v1).</a:t>
            </a:r>
          </a:p>
          <a:p>
            <a:pPr>
              <a:spcBef>
                <a:spcPts val="800"/>
              </a:spcBef>
              <a:defRPr sz="1050" b="1">
                <a:solidFill>
                  <a:srgbClr val="34D399"/>
                </a:solidFill>
                <a:latin typeface="Segoe UI"/>
              </a:defRPr>
            </a:pPr>
            <a:r>
              <a:t>4. Poison Message Quarantine &amp; DLQ:</a:t>
            </a:r>
          </a:p>
          <a:p>
            <a:pPr>
              <a:spcBef>
                <a:spcPts val="200"/>
              </a:spcBef>
              <a:defRPr sz="950">
                <a:solidFill>
                  <a:srgbClr val="F8FAFC"/>
                </a:solidFill>
                <a:latin typeface="Segoe UI"/>
              </a:defRPr>
            </a:pPr>
            <a:r>
              <a:t>If OpenSearch is temporarily unavailable, SQS retries 3 times before isolating failed records in doc-platform-mvp-index-dlq and triggering CloudWatch alarms.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554480"/>
            <a:ext cx="5059375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29400" y="1737360"/>
            <a:ext cx="460217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9900"/>
                </a:solidFill>
                <a:latin typeface="Segoe UI"/>
              </a:defRPr>
            </a:pPr>
            <a:r>
              <a:t>SQS Index Message Contract (JSON)</a:t>
            </a:r>
          </a:p>
          <a:p>
            <a:pPr>
              <a:spcBef>
                <a:spcPts val="600"/>
              </a:spcBef>
              <a:defRPr sz="950">
                <a:solidFill>
                  <a:srgbClr val="38BDF8"/>
                </a:solidFill>
                <a:latin typeface="Consolas"/>
              </a:defRPr>
            </a:pPr>
            <a:r>
              <a:t>{</a:t>
            </a:r>
            <a:br/>
            <a:r>
              <a:t>  "event_id": "e3b0c442-98fc-1c14-9afb-f4c8996fb924",</a:t>
            </a:r>
            <a:br/>
            <a:r>
              <a:t>  "event_type": "DOCUMENT_METADATA_UPDATED",</a:t>
            </a:r>
            <a:br/>
            <a:r>
              <a:t>  "document_id": "550e8400-e29b-41d4-a716-446655440000",</a:t>
            </a:r>
            <a:br/>
            <a:r>
              <a:t>  "document_class": "loan_agreement",</a:t>
            </a:r>
            <a:br/>
            <a:r>
              <a:t>  "application_version": 2,</a:t>
            </a:r>
            <a:br/>
            <a:r>
              <a:t>  "metadata_revision": 3,</a:t>
            </a:r>
            <a:br/>
            <a:r>
              <a:t>  "status": "ACTIVE",</a:t>
            </a:r>
            <a:br/>
            <a:r>
              <a:t>  "timestamp": "2026-08-18T15:05:00.000Z",</a:t>
            </a:r>
            <a:br/>
            <a:r>
              <a:t>  "actor_id": "usr_editor_02"</a:t>
            </a:r>
            <a:br/>
            <a:r>
              <a:t>}</a:t>
            </a:r>
          </a:p>
          <a:p>
            <a:pPr>
              <a:spcBef>
                <a:spcPts val="800"/>
              </a:spcBef>
              <a:defRPr sz="1100" b="1">
                <a:solidFill>
                  <a:srgbClr val="C084FC"/>
                </a:solidFill>
                <a:latin typeface="Segoe UI"/>
              </a:defRPr>
            </a:pPr>
            <a:r>
              <a:t>Resilience &amp; Self-Healing Properties:</a:t>
            </a:r>
          </a:p>
          <a:p>
            <a:pPr>
              <a:spcBef>
                <a:spcPts val="200"/>
              </a:spcBef>
              <a:defRPr sz="900">
                <a:solidFill>
                  <a:srgbClr val="94A3B8"/>
                </a:solidFill>
                <a:latin typeface="Segoe UI"/>
              </a:defRPr>
            </a:pPr>
            <a:r>
              <a:t>• Idempotent Consumer: Version-guarded upserts prevent out-of-order race conditions.</a:t>
            </a:r>
          </a:p>
          <a:p>
            <a:pPr>
              <a:spcBef>
                <a:spcPts val="200"/>
              </a:spcBef>
              <a:defRPr sz="900">
                <a:solidFill>
                  <a:srgbClr val="94A3B8"/>
                </a:solidFill>
                <a:latin typeface="Segoe UI"/>
              </a:defRPr>
            </a:pPr>
            <a:r>
              <a:t>• Index Rehydration: Search index can be dropped and 100% rebuilt from S3 annotations.</a:t>
            </a:r>
          </a:p>
          <a:p>
            <a:pPr>
              <a:spcBef>
                <a:spcPts val="200"/>
              </a:spcBef>
              <a:defRPr sz="900">
                <a:solidFill>
                  <a:srgbClr val="94A3B8"/>
                </a:solidFill>
                <a:latin typeface="Segoe UI"/>
              </a:defRPr>
            </a:pPr>
            <a:r>
              <a:t>• Blast Radius Isolation: Search outages never block transactional uploads or downloads.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6446520"/>
            <a:ext cx="10728655" cy="1371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6510528"/>
            <a:ext cx="77724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AWS Document Management Platform • Solution Architecture &amp; Sequence Specification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6510528"/>
            <a:ext cx="2316175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 b="1">
                <a:solidFill>
                  <a:srgbClr val="38BDF8"/>
                </a:solidFill>
                <a:latin typeface="Segoe UI"/>
              </a:defRPr>
            </a:pPr>
            <a:r>
              <a:t>6 / 22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  <a:latin typeface="Segoe UI"/>
              </a:defRPr>
            </a:pPr>
            <a:r>
              <a:t>VERSIONING &amp; METADATA GOVERNANCE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8FAFC"/>
                </a:solidFill>
                <a:latin typeface="Segoe UI"/>
              </a:defRPr>
            </a:pPr>
            <a:r>
              <a:t>Triple-Level Version Lineage &amp; Immutability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15568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Cryptographic Integrity, Monotonic State Tracking, and Strict Schema Governance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3429000" cy="13716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18488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1. Application Version</a:t>
            </a:r>
          </a:p>
          <a:p>
            <a:pPr>
              <a:defRPr sz="900">
                <a:solidFill>
                  <a:srgbClr val="F8FAFC"/>
                </a:solidFill>
                <a:latin typeface="Consolas"/>
              </a:defRPr>
            </a:pPr>
            <a:r>
              <a:t>application_version (1, 2, 3...)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103120"/>
            <a:ext cx="3154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Monotonic integer. Increments strictly when new binary content is uploaded via POST /versions. Resets metadata_revision to 1.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9976" y="1508760"/>
            <a:ext cx="3429000" cy="13716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17136" y="1618488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4D399"/>
                </a:solidFill>
                <a:latin typeface="Segoe UI"/>
              </a:defRPr>
            </a:pPr>
            <a:r>
              <a:t>2. Physical S3 VersionId</a:t>
            </a:r>
          </a:p>
          <a:p>
            <a:pPr>
              <a:defRPr sz="900">
                <a:solidFill>
                  <a:srgbClr val="F8FAFC"/>
                </a:solidFill>
                <a:latin typeface="Consolas"/>
              </a:defRPr>
            </a:pPr>
            <a:r>
              <a:t>s3_version_id ("3/L4bqt9...")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17136" y="2103120"/>
            <a:ext cx="3154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Immutable S3-generated cryptographic object version identifier representing raw binary bytes stored in the primary S3 bucket.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28432" y="1508760"/>
            <a:ext cx="3429000" cy="13716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65592" y="1618488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BBF24"/>
                </a:solidFill>
                <a:latin typeface="Segoe UI"/>
              </a:defRPr>
            </a:pPr>
            <a:r>
              <a:t>3. Metadata Revision</a:t>
            </a:r>
          </a:p>
          <a:p>
            <a:pPr>
              <a:defRPr sz="900">
                <a:solidFill>
                  <a:srgbClr val="F8FAFC"/>
                </a:solidFill>
                <a:latin typeface="Consolas"/>
              </a:defRPr>
            </a:pPr>
            <a:r>
              <a:t>metadata_revision (1, 2, 3...)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65592" y="2103120"/>
            <a:ext cx="3154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Monotonic OCC revision counter. Increments on every PATCH /metadata update. Enforced via DynamoDB ConditionExpressions.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731520" y="3063240"/>
          <a:ext cx="10728655" cy="3154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1828800"/>
                <a:gridCol w="2103120"/>
                <a:gridCol w="3504895"/>
              </a:tblGrid>
              <a:tr h="630936">
                <a:tc>
                  <a:txBody>
                    <a:bodyPr wrap="square" tIns="54864" bIns="54864"/>
                    <a:lstStyle/>
                    <a:p>
                      <a:pPr>
                        <a:defRPr sz="950" b="1">
                          <a:solidFill>
                            <a:srgbClr val="FF9900"/>
                          </a:solidFill>
                          <a:latin typeface="Segoe UI"/>
                        </a:defRPr>
                      </a:pPr>
                      <a:r>
                        <a:t>Field Names</a:t>
                      </a:r>
                    </a:p>
                  </a:txBody>
                  <a:tcPr anchor="ctr">
                    <a:solidFill>
                      <a:srgbClr val="18202F"/>
                    </a:solidFill>
                  </a:tcPr>
                </a:tc>
                <a:tc>
                  <a:txBody>
                    <a:bodyPr wrap="square" tIns="54864" bIns="54864"/>
                    <a:lstStyle/>
                    <a:p>
                      <a:pPr>
                        <a:defRPr sz="950" b="1">
                          <a:solidFill>
                            <a:srgbClr val="38BDF8"/>
                          </a:solidFill>
                          <a:latin typeface="Segoe UI"/>
                        </a:defRPr>
                      </a:pPr>
                      <a:r>
                        <a:t>Category</a:t>
                      </a:r>
                    </a:p>
                  </a:txBody>
                  <a:tcPr anchor="ctr">
                    <a:solidFill>
                      <a:srgbClr val="18202F"/>
                    </a:solidFill>
                  </a:tcPr>
                </a:tc>
                <a:tc>
                  <a:txBody>
                    <a:bodyPr wrap="square" tIns="54864" bIns="54864"/>
                    <a:lstStyle/>
                    <a:p>
                      <a:pPr>
                        <a:defRPr sz="950" b="1">
                          <a:solidFill>
                            <a:srgbClr val="38BDF8"/>
                          </a:solidFill>
                          <a:latin typeface="Segoe UI"/>
                        </a:defRPr>
                      </a:pPr>
                      <a:r>
                        <a:t>Mutability Rule</a:t>
                      </a:r>
                    </a:p>
                  </a:txBody>
                  <a:tcPr anchor="ctr">
                    <a:solidFill>
                      <a:srgbClr val="18202F"/>
                    </a:solidFill>
                  </a:tcPr>
                </a:tc>
                <a:tc>
                  <a:txBody>
                    <a:bodyPr wrap="square" tIns="54864" bIns="54864"/>
                    <a:lstStyle/>
                    <a:p>
                      <a:pPr>
                        <a:defRPr sz="950" b="1">
                          <a:solidFill>
                            <a:srgbClr val="38BDF8"/>
                          </a:solidFill>
                          <a:latin typeface="Segoe UI"/>
                        </a:defRPr>
                      </a:pPr>
                      <a:r>
                        <a:t>Update &amp; Governance Mechanism</a:t>
                      </a:r>
                    </a:p>
                  </a:txBody>
                  <a:tcPr anchor="ctr">
                    <a:solidFill>
                      <a:srgbClr val="18202F"/>
                    </a:solidFill>
                  </a:tcPr>
                </a:tc>
              </a:tr>
              <a:tr h="630936">
                <a:tc>
                  <a:txBody>
                    <a:bodyPr wrap="square" tIns="54864" bIns="54864"/>
                    <a:lstStyle/>
                    <a:p>
                      <a:pPr>
                        <a:defRPr sz="850">
                          <a:solidFill>
                            <a:srgbClr val="F8FAFC"/>
                          </a:solidFill>
                          <a:latin typeface="Consolas"/>
                        </a:defRPr>
                      </a:pPr>
                      <a:r>
                        <a:t>document_id, document_class, created_at, created_by</a:t>
                      </a:r>
                    </a:p>
                  </a:txBody>
                  <a:tcPr anchor="ctr">
                    <a:solidFill>
                      <a:srgbClr val="161E2E"/>
                    </a:solidFill>
                  </a:tcPr>
                </a:tc>
                <a:tc>
                  <a:txBody>
                    <a:bodyPr wrap="square" tIns="54864" bIns="54864"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System Identity</a:t>
                      </a:r>
                    </a:p>
                  </a:txBody>
                  <a:tcPr anchor="ctr">
                    <a:solidFill>
                      <a:srgbClr val="161E2E"/>
                    </a:solidFill>
                  </a:tcPr>
                </a:tc>
                <a:tc>
                  <a:txBody>
                    <a:bodyPr wrap="square" tIns="54864" bIns="54864"/>
                    <a:lstStyle/>
                    <a:p>
                      <a:pPr>
                        <a:defRPr sz="850" b="1">
                          <a:solidFill>
                            <a:srgbClr val="F43F5E"/>
                          </a:solidFill>
                          <a:latin typeface="Segoe UI"/>
                        </a:defRPr>
                      </a:pPr>
                      <a:r>
                        <a:t>Strictly Immutable</a:t>
                      </a:r>
                    </a:p>
                  </a:txBody>
                  <a:tcPr anchor="ctr">
                    <a:solidFill>
                      <a:srgbClr val="161E2E"/>
                    </a:solidFill>
                  </a:tcPr>
                </a:tc>
                <a:tc>
                  <a:txBody>
                    <a:bodyPr wrap="square" tIns="54864" bIns="54864"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Assigned once on initial document creation. Reject modification with 400 error.</a:t>
                      </a:r>
                    </a:p>
                  </a:txBody>
                  <a:tcPr anchor="ctr">
                    <a:solidFill>
                      <a:srgbClr val="161E2E"/>
                    </a:solidFill>
                  </a:tcPr>
                </a:tc>
              </a:tr>
              <a:tr h="630936">
                <a:tc>
                  <a:txBody>
                    <a:bodyPr wrap="square" tIns="54864" bIns="54864"/>
                    <a:lstStyle/>
                    <a:p>
                      <a:pPr>
                        <a:defRPr sz="850">
                          <a:solidFill>
                            <a:srgbClr val="F8FAFC"/>
                          </a:solidFill>
                          <a:latin typeface="Consolas"/>
                        </a:defRPr>
                      </a:pPr>
                      <a:r>
                        <a:t>application_version, content_type, content_length, content_checksum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tIns="54864" bIns="54864"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Binary Specifier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tIns="54864" bIns="54864"/>
                    <a:lstStyle/>
                    <a:p>
                      <a:pPr>
                        <a:defRPr sz="850" b="1">
                          <a:solidFill>
                            <a:srgbClr val="FBBF24"/>
                          </a:solidFill>
                          <a:latin typeface="Segoe UI"/>
                        </a:defRPr>
                      </a:pPr>
                      <a:r>
                        <a:t>Immutable for Version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tIns="54864" bIns="54864"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Cryptographically bound to raw bytes (SHA-256). Updates only on POST /versions.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630936">
                <a:tc>
                  <a:txBody>
                    <a:bodyPr wrap="square" tIns="54864" bIns="54864"/>
                    <a:lstStyle/>
                    <a:p>
                      <a:pPr>
                        <a:defRPr sz="850">
                          <a:solidFill>
                            <a:srgbClr val="F8FAFC"/>
                          </a:solidFill>
                          <a:latin typeface="Consolas"/>
                        </a:defRPr>
                      </a:pPr>
                      <a:r>
                        <a:t>metadata_revision, metadata_updated_at, metadata_updated_by</a:t>
                      </a:r>
                    </a:p>
                  </a:txBody>
                  <a:tcPr anchor="ctr">
                    <a:solidFill>
                      <a:srgbClr val="161E2E"/>
                    </a:solidFill>
                  </a:tcPr>
                </a:tc>
                <a:tc>
                  <a:txBody>
                    <a:bodyPr wrap="square" tIns="54864" bIns="54864"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Concurrency Tracking</a:t>
                      </a:r>
                    </a:p>
                  </a:txBody>
                  <a:tcPr anchor="ctr">
                    <a:solidFill>
                      <a:srgbClr val="161E2E"/>
                    </a:solidFill>
                  </a:tcPr>
                </a:tc>
                <a:tc>
                  <a:txBody>
                    <a:bodyPr wrap="square" tIns="54864" bIns="54864"/>
                    <a:lstStyle/>
                    <a:p>
                      <a:pPr>
                        <a:defRPr sz="850" b="1">
                          <a:solidFill>
                            <a:srgbClr val="C084FC"/>
                          </a:solidFill>
                          <a:latin typeface="Segoe UI"/>
                        </a:defRPr>
                      </a:pPr>
                      <a:r>
                        <a:t>System Monotonic</a:t>
                      </a:r>
                    </a:p>
                  </a:txBody>
                  <a:tcPr anchor="ctr">
                    <a:solidFill>
                      <a:srgbClr val="161E2E"/>
                    </a:solidFill>
                  </a:tcPr>
                </a:tc>
                <a:tc>
                  <a:txBody>
                    <a:bodyPr wrap="square" tIns="54864" bIns="54864"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Automatically managed by Lambda and DynamoDB OCC conditional expressions.</a:t>
                      </a:r>
                    </a:p>
                  </a:txBody>
                  <a:tcPr anchor="ctr">
                    <a:solidFill>
                      <a:srgbClr val="161E2E"/>
                    </a:solidFill>
                  </a:tcPr>
                </a:tc>
              </a:tr>
              <a:tr h="630936">
                <a:tc>
                  <a:txBody>
                    <a:bodyPr wrap="square" tIns="54864" bIns="54864"/>
                    <a:lstStyle/>
                    <a:p>
                      <a:pPr>
                        <a:defRPr sz="850">
                          <a:solidFill>
                            <a:srgbClr val="F8FAFC"/>
                          </a:solidFill>
                          <a:latin typeface="Consolas"/>
                        </a:defRPr>
                      </a:pPr>
                      <a:r>
                        <a:t>customer_id, loan_number, loan_amount_minor_units, currency, loan_type, branch_code, signed_date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tIns="54864" bIns="54864"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Domain Attributes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tIns="54864" bIns="54864"/>
                    <a:lstStyle/>
                    <a:p>
                      <a:pPr>
                        <a:defRPr sz="850" b="1">
                          <a:solidFill>
                            <a:srgbClr val="34D399"/>
                          </a:solidFill>
                          <a:latin typeface="Segoe UI"/>
                        </a:defRPr>
                      </a:pPr>
                      <a:r>
                        <a:t>Mutable via PATCH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tIns="54864" bIns="54864"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Modifiable via PATCH /metadata with Ajv JSON Schema validation and expected_metadata_revision.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15" name="Rectangle 14"/>
          <p:cNvSpPr/>
          <p:nvPr/>
        </p:nvSpPr>
        <p:spPr>
          <a:xfrm>
            <a:off x="731520" y="6446520"/>
            <a:ext cx="10728655" cy="1371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6510528"/>
            <a:ext cx="77724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AWS Document Management Platform • Solution Architecture &amp; Sequence Specification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0" y="6510528"/>
            <a:ext cx="2316175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 b="1">
                <a:solidFill>
                  <a:srgbClr val="38BDF8"/>
                </a:solidFill>
                <a:latin typeface="Segoe UI"/>
              </a:defRPr>
            </a:pPr>
            <a:r>
              <a:t>7 / 22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  <a:latin typeface="Segoe UI"/>
              </a:defRPr>
            </a:pPr>
            <a:r>
              <a:t>CONCURRENCY &amp; EVOLUTION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8FAFC"/>
                </a:solidFill>
                <a:latin typeface="Segoe UI"/>
              </a:defRPr>
            </a:pPr>
            <a:r>
              <a:t>Optimistic Concurrency Control (OCC) &amp; Metadata Evolution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15568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Preventing Lost Overwrites Under High Concurrency &amp; In-Memory Ajv JSON Schema Validation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212080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73736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Segoe UI"/>
              </a:defRPr>
            </a:pPr>
            <a:r>
              <a:t>OCC Algorithm (PATCH /v1/documents/{id}/metadata)</a:t>
            </a:r>
          </a:p>
          <a:p>
            <a:pPr>
              <a:spcBef>
                <a:spcPts val="600"/>
              </a:spcBef>
              <a:defRPr sz="1000" b="1">
                <a:solidFill>
                  <a:srgbClr val="34D399"/>
                </a:solidFill>
                <a:latin typeface="Segoe UI"/>
              </a:defRPr>
            </a:pPr>
            <a:r>
              <a:t>1. Client Passes Revision:</a:t>
            </a:r>
          </a:p>
          <a:p>
            <a:pPr>
              <a:spcBef>
                <a:spcPts val="100"/>
              </a:spcBef>
              <a:defRPr sz="850">
                <a:solidFill>
                  <a:srgbClr val="F8FAFC"/>
                </a:solidFill>
                <a:latin typeface="Segoe UI"/>
              </a:defRPr>
            </a:pPr>
            <a:r>
              <a:t>Caller includes expected_metadata_revision: N in the request body along with desired field changes.</a:t>
            </a:r>
          </a:p>
          <a:p>
            <a:pPr>
              <a:spcBef>
                <a:spcPts val="600"/>
              </a:spcBef>
              <a:defRPr sz="1000" b="1">
                <a:solidFill>
                  <a:srgbClr val="34D399"/>
                </a:solidFill>
                <a:latin typeface="Segoe UI"/>
              </a:defRPr>
            </a:pPr>
            <a:r>
              <a:t>2. Read &amp; Consistency Check:</a:t>
            </a:r>
          </a:p>
          <a:p>
            <a:pPr>
              <a:spcBef>
                <a:spcPts val="100"/>
              </a:spcBef>
              <a:defRPr sz="850">
                <a:solidFill>
                  <a:srgbClr val="F8FAFC"/>
                </a:solidFill>
                <a:latin typeface="Segoe UI"/>
              </a:defRPr>
            </a:pPr>
            <a:r>
              <a:t>Lambda reads DynamoDB DOC#{id} pointer. If current_metadata_revision != expected_metadata_revision, aborts immediately with 409 METADATA_CONFLICT.</a:t>
            </a:r>
          </a:p>
          <a:p>
            <a:pPr>
              <a:spcBef>
                <a:spcPts val="600"/>
              </a:spcBef>
              <a:defRPr sz="1000" b="1">
                <a:solidFill>
                  <a:srgbClr val="34D399"/>
                </a:solidFill>
                <a:latin typeface="Segoe UI"/>
              </a:defRPr>
            </a:pPr>
            <a:r>
              <a:t>3. Fetch S3 Annotation &amp; Merge:</a:t>
            </a:r>
          </a:p>
          <a:p>
            <a:pPr>
              <a:spcBef>
                <a:spcPts val="100"/>
              </a:spcBef>
              <a:defRPr sz="850">
                <a:solidFill>
                  <a:srgbClr val="F8FAFC"/>
                </a:solidFill>
                <a:latin typeface="Segoe UI"/>
              </a:defRPr>
            </a:pPr>
            <a:r>
              <a:t>Fetches current S3 annotation JSON via GetObjectAnnotation, validates that changes contain no immutable fields, increments revision to N+1, and validates against Ajv.</a:t>
            </a:r>
          </a:p>
          <a:p>
            <a:pPr>
              <a:spcBef>
                <a:spcPts val="600"/>
              </a:spcBef>
              <a:defRPr sz="1000" b="1">
                <a:solidFill>
                  <a:srgbClr val="34D399"/>
                </a:solidFill>
                <a:latin typeface="Segoe UI"/>
              </a:defRPr>
            </a:pPr>
            <a:r>
              <a:t>4. S3 Annotation Commit:</a:t>
            </a:r>
          </a:p>
          <a:p>
            <a:pPr>
              <a:spcBef>
                <a:spcPts val="100"/>
              </a:spcBef>
              <a:defRPr sz="850">
                <a:solidFill>
                  <a:srgbClr val="F8FAFC"/>
                </a:solidFill>
                <a:latin typeface="Segoe UI"/>
              </a:defRPr>
            </a:pPr>
            <a:r>
              <a:t>S3 PutObjectAnnotation attaches updated JSON to S3 object version.</a:t>
            </a:r>
          </a:p>
          <a:p>
            <a:pPr>
              <a:spcBef>
                <a:spcPts val="600"/>
              </a:spcBef>
              <a:defRPr sz="1000" b="1">
                <a:solidFill>
                  <a:srgbClr val="34D399"/>
                </a:solidFill>
                <a:latin typeface="Segoe UI"/>
              </a:defRPr>
            </a:pPr>
            <a:r>
              <a:t>5. Atomic DynamoDB Conditional Commit:</a:t>
            </a:r>
          </a:p>
          <a:p>
            <a:pPr>
              <a:spcBef>
                <a:spcPts val="100"/>
              </a:spcBef>
              <a:defRPr sz="850">
                <a:solidFill>
                  <a:srgbClr val="F8FAFC"/>
                </a:solidFill>
                <a:latin typeface="Segoe UI"/>
              </a:defRPr>
            </a:pPr>
            <a:r>
              <a:t>DynamoDB executes conditional update (ConditionExpression: current_metadata_revision = :expRev). If parallel update raced, DynamoDB throws ConditionalCheckFailedException.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554480"/>
            <a:ext cx="5212080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73736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9900"/>
                </a:solidFill>
                <a:latin typeface="Segoe UI"/>
              </a:defRPr>
            </a:pPr>
            <a:r>
              <a:t>Metadata Schema Evolution &amp; GitOps</a:t>
            </a:r>
          </a:p>
          <a:p>
            <a:pPr>
              <a:spcBef>
                <a:spcPts val="600"/>
              </a:spcBef>
              <a:defRPr sz="1050" b="1">
                <a:solidFill>
                  <a:srgbClr val="C084FC"/>
                </a:solidFill>
                <a:latin typeface="Segoe UI"/>
              </a:defRPr>
            </a:pPr>
            <a:r>
              <a:t>Current GitOps Lifecycle (Build-Time Packaging):</a:t>
            </a:r>
          </a:p>
          <a:p>
            <a:pPr>
              <a:spcBef>
                <a:spcPts val="500"/>
              </a:spcBef>
              <a:defRPr sz="950" b="1">
                <a:solidFill>
                  <a:srgbClr val="38BDF8"/>
                </a:solidFill>
                <a:latin typeface="Segoe UI"/>
              </a:defRPr>
            </a:pPr>
            <a:r>
              <a:t>• Zero Cold Start Latency: </a:t>
            </a:r>
            <a:r>
              <a:rPr b="0">
                <a:solidFill>
                  <a:srgbClr val="94A3B8"/>
                </a:solidFill>
              </a:rPr>
              <a:t>Schemas (schemas/loan_agreement-v1.json) are bundled directly into Lambda artifacts and compiled into memory at startup using Ajv. Zero DB network hops.</a:t>
            </a:r>
          </a:p>
          <a:p>
            <a:pPr>
              <a:spcBef>
                <a:spcPts val="500"/>
              </a:spcBef>
              <a:defRPr sz="950" b="1">
                <a:solidFill>
                  <a:srgbClr val="38BDF8"/>
                </a:solidFill>
                <a:latin typeface="Segoe UI"/>
              </a:defRPr>
            </a:pPr>
            <a:r>
              <a:t>• Closed Envelope Contract: </a:t>
            </a:r>
            <a:r>
              <a:rPr b="0">
                <a:solidFill>
                  <a:srgbClr val="94A3B8"/>
                </a:solidFill>
              </a:rPr>
              <a:t>additionalProperties: false prevents property pollution and schema drift across document classes.</a:t>
            </a:r>
          </a:p>
          <a:p>
            <a:pPr>
              <a:spcBef>
                <a:spcPts val="500"/>
              </a:spcBef>
              <a:defRPr sz="950" b="1">
                <a:solidFill>
                  <a:srgbClr val="38BDF8"/>
                </a:solidFill>
                <a:latin typeface="Segoe UI"/>
              </a:defRPr>
            </a:pPr>
            <a:r>
              <a:t>• Strict Pull Request Governance: </a:t>
            </a:r>
            <a:r>
              <a:rPr b="0">
                <a:solidFill>
                  <a:srgbClr val="94A3B8"/>
                </a:solidFill>
              </a:rPr>
              <a:t>Schema updates require code review, automated schema linting, and CI/CD validation before deployment.</a:t>
            </a:r>
          </a:p>
          <a:p>
            <a:pPr>
              <a:spcBef>
                <a:spcPts val="500"/>
              </a:spcBef>
              <a:defRPr sz="950" b="1">
                <a:solidFill>
                  <a:srgbClr val="38BDF8"/>
                </a:solidFill>
                <a:latin typeface="Segoe UI"/>
              </a:defRPr>
            </a:pPr>
            <a:r>
              <a:t>• Phase 2 Roadmap (Dynamic Registry): </a:t>
            </a:r>
            <a:r>
              <a:rPr b="0">
                <a:solidFill>
                  <a:srgbClr val="94A3B8"/>
                </a:solidFill>
              </a:rPr>
              <a:t>Future phase introduces a dedicated DynamoDB Schema Registry table for runtime administrative schema registration without redeployment.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6446520"/>
            <a:ext cx="10728655" cy="1371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6510528"/>
            <a:ext cx="77724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AWS Document Management Platform • Solution Architecture &amp; Sequence Specification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6510528"/>
            <a:ext cx="2316175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 b="1">
                <a:solidFill>
                  <a:srgbClr val="38BDF8"/>
                </a:solidFill>
                <a:latin typeface="Segoe UI"/>
              </a:defRPr>
            </a:pPr>
            <a:r>
              <a:t>8 / 22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  <a:latin typeface="Segoe UI"/>
              </a:defRPr>
            </a:pPr>
            <a:r>
              <a:t>INGESTION DEEP DIVE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8FAFC"/>
                </a:solidFill>
                <a:latin typeface="Segoe UI"/>
              </a:defRPr>
            </a:pPr>
            <a:r>
              <a:t>Bimodal Ingestion Architecture: Inline vs. Direct S3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15568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Optimizing Latency and Eliminating API Gateway 10 MiB Payload Bottlenecks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212080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73736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Segoe UI"/>
              </a:defRPr>
            </a:pPr>
            <a:r>
              <a:t>Pathway 1: Inline Binary Upload (≤ 4 MiB)</a:t>
            </a:r>
          </a:p>
          <a:p>
            <a:pPr>
              <a:spcBef>
                <a:spcPts val="400"/>
              </a:spcBef>
              <a:defRPr sz="950">
                <a:solidFill>
                  <a:srgbClr val="94A3B8"/>
                </a:solidFill>
                <a:latin typeface="Segoe UI"/>
              </a:defRPr>
            </a:pPr>
            <a:r>
              <a:t>Single HTTP Request for standard documents, receipts, invoices, and IDs.</a:t>
            </a:r>
          </a:p>
          <a:p>
            <a:pPr>
              <a:spcBef>
                <a:spcPts val="800"/>
              </a:spcBef>
              <a:defRPr sz="900">
                <a:solidFill>
                  <a:srgbClr val="34D399"/>
                </a:solidFill>
                <a:latin typeface="Consolas"/>
              </a:defRPr>
            </a:pPr>
            <a:r>
              <a:t>POST /v1/documents</a:t>
            </a:r>
            <a:br/>
            <a:r>
              <a:t>Headers:</a:t>
            </a:r>
            <a:br/>
            <a:r>
              <a:t>  • Content-Type: application/pdf</a:t>
            </a:r>
            <a:br/>
            <a:r>
              <a:t>  • X-Content-SHA256: {hex_hash}</a:t>
            </a:r>
            <a:br/>
            <a:r>
              <a:t>  • X-Document-Metadata: {base64_json_envelope}</a:t>
            </a:r>
            <a:br/>
            <a:r>
              <a:t>Body: Raw Binary Bytes</a:t>
            </a:r>
          </a:p>
          <a:p>
            <a:pPr>
              <a:spcBef>
                <a:spcPts val="800"/>
              </a:spcBef>
              <a:defRPr sz="1050" b="1">
                <a:solidFill>
                  <a:srgbClr val="F8FAFC"/>
                </a:solidFill>
                <a:latin typeface="Segoe UI"/>
              </a:defRPr>
            </a:pPr>
            <a:r>
              <a:t>Execution Characteristics:</a:t>
            </a:r>
          </a:p>
          <a:p>
            <a:pPr>
              <a:spcBef>
                <a:spcPts val="200"/>
              </a:spcBef>
              <a:defRPr sz="900">
                <a:solidFill>
                  <a:srgbClr val="94A3B8"/>
                </a:solidFill>
                <a:latin typeface="Segoe UI"/>
              </a:defRPr>
            </a:pPr>
            <a:r>
              <a:t>• Total E2E Latency: ~120ms - 250ms synchronous response.</a:t>
            </a:r>
          </a:p>
          <a:p>
            <a:pPr>
              <a:spcBef>
                <a:spcPts val="200"/>
              </a:spcBef>
              <a:defRPr sz="900">
                <a:solidFill>
                  <a:srgbClr val="94A3B8"/>
                </a:solidFill>
                <a:latin typeface="Segoe UI"/>
              </a:defRPr>
            </a:pPr>
            <a:r>
              <a:t>• Atomic Commit: Binary + S3 Annotation + DynamoDB pointer committed simultaneously.</a:t>
            </a:r>
          </a:p>
          <a:p>
            <a:pPr>
              <a:spcBef>
                <a:spcPts val="200"/>
              </a:spcBef>
              <a:defRPr sz="900">
                <a:solidFill>
                  <a:srgbClr val="94A3B8"/>
                </a:solidFill>
                <a:latin typeface="Segoe UI"/>
              </a:defRPr>
            </a:pPr>
            <a:r>
              <a:t>• Zero Client Coordination: 1 request returns 201 Created with complete metadata.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554480"/>
            <a:ext cx="5212080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73736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9900"/>
                </a:solidFill>
                <a:latin typeface="Segoe UI"/>
              </a:defRPr>
            </a:pPr>
            <a:r>
              <a:t>Pathway 2: Direct S3 Presigned Upload (&gt; 4 MiB)</a:t>
            </a:r>
          </a:p>
          <a:p>
            <a:pPr>
              <a:spcBef>
                <a:spcPts val="400"/>
              </a:spcBef>
              <a:defRPr sz="950">
                <a:solidFill>
                  <a:srgbClr val="94A3B8"/>
                </a:solidFill>
                <a:latin typeface="Segoe UI"/>
              </a:defRPr>
            </a:pPr>
            <a:r>
              <a:t>Two-Phase Protocol designed for large loan dossiers, mortgage archives &amp; CAD files.</a:t>
            </a:r>
          </a:p>
          <a:p>
            <a:pPr>
              <a:spcBef>
                <a:spcPts val="800"/>
              </a:spcBef>
              <a:defRPr sz="900">
                <a:solidFill>
                  <a:srgbClr val="38BDF8"/>
                </a:solidFill>
                <a:latin typeface="Consolas"/>
              </a:defRPr>
            </a:pPr>
            <a:r>
              <a:t>Step 1: POST /v1/documents/uploads</a:t>
            </a:r>
            <a:br/>
            <a:r>
              <a:t>  → Validates metadata, mints 15-min S3 presigned PUT URL.</a:t>
            </a:r>
            <a:br/>
            <a:r>
              <a:t>Step 2: PUT {presigned_url}</a:t>
            </a:r>
            <a:br/>
            <a:r>
              <a:t>  → Client streams bytes directly to S3 (line rate).</a:t>
            </a:r>
            <a:br/>
            <a:r>
              <a:t>Step 3: POST /v1/uploads/{id}/complete</a:t>
            </a:r>
            <a:br/>
            <a:r>
              <a:t>  → Lambda validates S3 HeadObject &amp; activates pointer.</a:t>
            </a:r>
          </a:p>
          <a:p>
            <a:pPr>
              <a:spcBef>
                <a:spcPts val="800"/>
              </a:spcBef>
              <a:defRPr sz="1050" b="1">
                <a:solidFill>
                  <a:srgbClr val="F8FAFC"/>
                </a:solidFill>
                <a:latin typeface="Segoe UI"/>
              </a:defRPr>
            </a:pPr>
            <a:r>
              <a:t>Execution Characteristics:</a:t>
            </a:r>
          </a:p>
          <a:p>
            <a:pPr>
              <a:spcBef>
                <a:spcPts val="200"/>
              </a:spcBef>
              <a:defRPr sz="900">
                <a:solidFill>
                  <a:srgbClr val="94A3B8"/>
                </a:solidFill>
                <a:latin typeface="Segoe UI"/>
              </a:defRPr>
            </a:pPr>
            <a:r>
              <a:t>• Bypasses API Gateway 10 MiB Ceiling: Scales to multi-GB uploads.</a:t>
            </a:r>
          </a:p>
          <a:p>
            <a:pPr>
              <a:spcBef>
                <a:spcPts val="200"/>
              </a:spcBef>
              <a:defRPr sz="900">
                <a:solidFill>
                  <a:srgbClr val="94A3B8"/>
                </a:solidFill>
                <a:latin typeface="Segoe UI"/>
              </a:defRPr>
            </a:pPr>
            <a:r>
              <a:t>• Zero Lambda Memory Overhead: Compute handles only metadata coordination.</a:t>
            </a:r>
          </a:p>
          <a:p>
            <a:pPr>
              <a:spcBef>
                <a:spcPts val="200"/>
              </a:spcBef>
              <a:defRPr sz="900">
                <a:solidFill>
                  <a:srgbClr val="94A3B8"/>
                </a:solidFill>
                <a:latin typeface="Segoe UI"/>
              </a:defRPr>
            </a:pPr>
            <a:r>
              <a:t>• Automated Session TTL: Uncompleted sessions cleaned up after 24h via DynamoDB TTL.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6446520"/>
            <a:ext cx="10728655" cy="1371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6510528"/>
            <a:ext cx="77724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AWS Document Management Platform • Solution Architecture &amp; Sequence Specification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6510528"/>
            <a:ext cx="2316175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 b="1">
                <a:solidFill>
                  <a:srgbClr val="38BDF8"/>
                </a:solidFill>
                <a:latin typeface="Segoe UI"/>
              </a:defRPr>
            </a:pPr>
            <a:r>
              <a:t>9 / 22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  <a:latin typeface="Segoe UI"/>
              </a:defRPr>
            </a:pPr>
            <a:r>
              <a:t>API SURFACE &amp; 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8FAFC"/>
                </a:solidFill>
                <a:latin typeface="Segoe UI"/>
              </a:defRPr>
            </a:pPr>
            <a:r>
              <a:t>Exposed REST APIs: Complete Operations Catalog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15568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15 Production Endpoints Partitioned Across Ingestion, Lifecycle, Metadata, Download &amp; Search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508760"/>
          <a:ext cx="10728655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2103120"/>
                <a:gridCol w="2834640"/>
                <a:gridCol w="2468880"/>
                <a:gridCol w="944575"/>
              </a:tblGrid>
              <a:tr h="291465"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950" b="1">
                          <a:solidFill>
                            <a:srgbClr val="FF9900"/>
                          </a:solidFill>
                          <a:latin typeface="Segoe UI"/>
                        </a:defRPr>
                      </a:pPr>
                      <a:r>
                        <a:t>Method &amp; Path</a:t>
                      </a:r>
                    </a:p>
                  </a:txBody>
                  <a:tcPr anchor="ctr">
                    <a:solidFill>
                      <a:srgbClr val="18202F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950" b="1">
                          <a:solidFill>
                            <a:srgbClr val="38BDF8"/>
                          </a:solidFill>
                          <a:latin typeface="Segoe UI"/>
                        </a:defRPr>
                      </a:pPr>
                      <a:r>
                        <a:t>Operation Name</a:t>
                      </a:r>
                    </a:p>
                  </a:txBody>
                  <a:tcPr anchor="ctr">
                    <a:solidFill>
                      <a:srgbClr val="18202F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950" b="1">
                          <a:solidFill>
                            <a:srgbClr val="38BDF8"/>
                          </a:solidFill>
                          <a:latin typeface="Segoe UI"/>
                        </a:defRPr>
                      </a:pPr>
                      <a:r>
                        <a:t>Target Components</a:t>
                      </a:r>
                    </a:p>
                  </a:txBody>
                  <a:tcPr anchor="ctr">
                    <a:solidFill>
                      <a:srgbClr val="18202F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950" b="1">
                          <a:solidFill>
                            <a:srgbClr val="38BDF8"/>
                          </a:solidFill>
                          <a:latin typeface="Segoe UI"/>
                        </a:defRPr>
                      </a:pPr>
                      <a:r>
                        <a:t>RBAC Role Required</a:t>
                      </a:r>
                    </a:p>
                  </a:txBody>
                  <a:tcPr anchor="ctr">
                    <a:solidFill>
                      <a:srgbClr val="18202F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950" b="1">
                          <a:solidFill>
                            <a:srgbClr val="38BDF8"/>
                          </a:solidFill>
                          <a:latin typeface="Segoe UI"/>
                        </a:defRPr>
                      </a:pPr>
                      <a:r>
                        <a:t>Mode</a:t>
                      </a:r>
                    </a:p>
                  </a:txBody>
                  <a:tcPr anchor="ctr">
                    <a:solidFill>
                      <a:srgbClr val="18202F"/>
                    </a:solidFill>
                  </a:tcPr>
                </a:tc>
              </a:tr>
              <a:tr h="291465"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850">
                          <a:solidFill>
                            <a:srgbClr val="38BDF8"/>
                          </a:solidFill>
                          <a:latin typeface="Consolas"/>
                        </a:defRPr>
                      </a:pPr>
                      <a:r>
                        <a:t>GET /health</a:t>
                      </a:r>
                    </a:p>
                  </a:txBody>
                  <a:tcPr anchor="ctr">
                    <a:solidFill>
                      <a:srgbClr val="161E2E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Health Check</a:t>
                      </a:r>
                    </a:p>
                  </a:txBody>
                  <a:tcPr anchor="ctr">
                    <a:solidFill>
                      <a:srgbClr val="161E2E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DynamoDB, S3, OpenSearch</a:t>
                      </a:r>
                    </a:p>
                  </a:txBody>
                  <a:tcPr anchor="ctr">
                    <a:solidFill>
                      <a:srgbClr val="161E2E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85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Public / All Roles</a:t>
                      </a:r>
                    </a:p>
                  </a:txBody>
                  <a:tcPr anchor="ctr">
                    <a:solidFill>
                      <a:srgbClr val="161E2E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Sync</a:t>
                      </a:r>
                    </a:p>
                  </a:txBody>
                  <a:tcPr anchor="ctr">
                    <a:solidFill>
                      <a:srgbClr val="161E2E"/>
                    </a:solidFill>
                  </a:tcPr>
                </a:tc>
              </a:tr>
              <a:tr h="291465"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850">
                          <a:solidFill>
                            <a:srgbClr val="34D399"/>
                          </a:solidFill>
                          <a:latin typeface="Consolas"/>
                        </a:defRPr>
                      </a:pPr>
                      <a:r>
                        <a:t>POST /v1/documents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Inline Document Upload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API GW, Lambda, S3, DynamoDB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850">
                          <a:solidFill>
                            <a:srgbClr val="C084FC"/>
                          </a:solidFill>
                          <a:latin typeface="Segoe UI"/>
                        </a:defRPr>
                      </a:pPr>
                      <a:r>
                        <a:t>Document.Writer / Admin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Sync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291465"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850">
                          <a:solidFill>
                            <a:srgbClr val="34D399"/>
                          </a:solidFill>
                          <a:latin typeface="Consolas"/>
                        </a:defRPr>
                      </a:pPr>
                      <a:r>
                        <a:t>POST /v1/documents/uploads</a:t>
                      </a:r>
                    </a:p>
                  </a:txBody>
                  <a:tcPr anchor="ctr">
                    <a:solidFill>
                      <a:srgbClr val="161E2E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Direct Upload Init</a:t>
                      </a:r>
                    </a:p>
                  </a:txBody>
                  <a:tcPr anchor="ctr">
                    <a:solidFill>
                      <a:srgbClr val="161E2E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Lambda, S3 Presign, DynamoDB</a:t>
                      </a:r>
                    </a:p>
                  </a:txBody>
                  <a:tcPr anchor="ctr">
                    <a:solidFill>
                      <a:srgbClr val="161E2E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850">
                          <a:solidFill>
                            <a:srgbClr val="C084FC"/>
                          </a:solidFill>
                          <a:latin typeface="Segoe UI"/>
                        </a:defRPr>
                      </a:pPr>
                      <a:r>
                        <a:t>Document.Writer / Admin</a:t>
                      </a:r>
                    </a:p>
                  </a:txBody>
                  <a:tcPr anchor="ctr">
                    <a:solidFill>
                      <a:srgbClr val="161E2E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Sync</a:t>
                      </a:r>
                    </a:p>
                  </a:txBody>
                  <a:tcPr anchor="ctr">
                    <a:solidFill>
                      <a:srgbClr val="161E2E"/>
                    </a:solidFill>
                  </a:tcPr>
                </a:tc>
              </a:tr>
              <a:tr h="291465"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850">
                          <a:solidFill>
                            <a:srgbClr val="34D399"/>
                          </a:solidFill>
                          <a:latin typeface="Consolas"/>
                        </a:defRPr>
                      </a:pPr>
                      <a:r>
                        <a:t>POST /v1/uploads/{id}/complete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Complete Direct Upload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Lambda, S3 Annotate, DynamoDB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850">
                          <a:solidFill>
                            <a:srgbClr val="C084FC"/>
                          </a:solidFill>
                          <a:latin typeface="Segoe UI"/>
                        </a:defRPr>
                      </a:pPr>
                      <a:r>
                        <a:t>Document.Writer / Admin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Sync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291465"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850">
                          <a:solidFill>
                            <a:srgbClr val="F43F5E"/>
                          </a:solidFill>
                          <a:latin typeface="Consolas"/>
                        </a:defRPr>
                      </a:pPr>
                      <a:r>
                        <a:t>DELETE /v1/uploads/{id}</a:t>
                      </a:r>
                    </a:p>
                  </a:txBody>
                  <a:tcPr anchor="ctr">
                    <a:solidFill>
                      <a:srgbClr val="161E2E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Cancel Direct Upload</a:t>
                      </a:r>
                    </a:p>
                  </a:txBody>
                  <a:tcPr anchor="ctr">
                    <a:solidFill>
                      <a:srgbClr val="161E2E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Lambda, S3 Abort, DynamoDB</a:t>
                      </a:r>
                    </a:p>
                  </a:txBody>
                  <a:tcPr anchor="ctr">
                    <a:solidFill>
                      <a:srgbClr val="161E2E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850">
                          <a:solidFill>
                            <a:srgbClr val="C084FC"/>
                          </a:solidFill>
                          <a:latin typeface="Segoe UI"/>
                        </a:defRPr>
                      </a:pPr>
                      <a:r>
                        <a:t>Document.Writer / Admin</a:t>
                      </a:r>
                    </a:p>
                  </a:txBody>
                  <a:tcPr anchor="ctr">
                    <a:solidFill>
                      <a:srgbClr val="161E2E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Sync</a:t>
                      </a:r>
                    </a:p>
                  </a:txBody>
                  <a:tcPr anchor="ctr">
                    <a:solidFill>
                      <a:srgbClr val="161E2E"/>
                    </a:solidFill>
                  </a:tcPr>
                </a:tc>
              </a:tr>
              <a:tr h="291465"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850">
                          <a:solidFill>
                            <a:srgbClr val="38BDF8"/>
                          </a:solidFill>
                          <a:latin typeface="Consolas"/>
                        </a:defRPr>
                      </a:pPr>
                      <a:r>
                        <a:t>GET /v1/documents/{id}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Get Document Pointer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API GW, Lambda, DynamoDB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85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Document.Reader / All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Sync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291465"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850">
                          <a:solidFill>
                            <a:srgbClr val="38BDF8"/>
                          </a:solidFill>
                          <a:latin typeface="Consolas"/>
                        </a:defRPr>
                      </a:pPr>
                      <a:r>
                        <a:t>GET /v1/documents/{id}/versions</a:t>
                      </a:r>
                    </a:p>
                  </a:txBody>
                  <a:tcPr anchor="ctr">
                    <a:solidFill>
                      <a:srgbClr val="161E2E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List Version History</a:t>
                      </a:r>
                    </a:p>
                  </a:txBody>
                  <a:tcPr anchor="ctr">
                    <a:solidFill>
                      <a:srgbClr val="161E2E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Lambda, DynamoDB VER# Query</a:t>
                      </a:r>
                    </a:p>
                  </a:txBody>
                  <a:tcPr anchor="ctr">
                    <a:solidFill>
                      <a:srgbClr val="161E2E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85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Document.Reader / All</a:t>
                      </a:r>
                    </a:p>
                  </a:txBody>
                  <a:tcPr anchor="ctr">
                    <a:solidFill>
                      <a:srgbClr val="161E2E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Sync</a:t>
                      </a:r>
                    </a:p>
                  </a:txBody>
                  <a:tcPr anchor="ctr">
                    <a:solidFill>
                      <a:srgbClr val="161E2E"/>
                    </a:solidFill>
                  </a:tcPr>
                </a:tc>
              </a:tr>
              <a:tr h="291465"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850">
                          <a:solidFill>
                            <a:srgbClr val="34D399"/>
                          </a:solidFill>
                          <a:latin typeface="Consolas"/>
                        </a:defRPr>
                      </a:pPr>
                      <a:r>
                        <a:t>POST /v1/documents/{id}/versions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Create New Version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Lambda, S3 Binary+Annot, DynamoDB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850">
                          <a:solidFill>
                            <a:srgbClr val="C084FC"/>
                          </a:solidFill>
                          <a:latin typeface="Segoe UI"/>
                        </a:defRPr>
                      </a:pPr>
                      <a:r>
                        <a:t>Document.Writer / Admin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Sync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291465"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850">
                          <a:solidFill>
                            <a:srgbClr val="38BDF8"/>
                          </a:solidFill>
                          <a:latin typeface="Consolas"/>
                        </a:defRPr>
                      </a:pPr>
                      <a:r>
                        <a:t>GET /v1/documents/{id}/versions/{v}</a:t>
                      </a:r>
                    </a:p>
                  </a:txBody>
                  <a:tcPr anchor="ctr">
                    <a:solidFill>
                      <a:srgbClr val="161E2E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Get Historical Version</a:t>
                      </a:r>
                    </a:p>
                  </a:txBody>
                  <a:tcPr anchor="ctr">
                    <a:solidFill>
                      <a:srgbClr val="161E2E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Lambda, DynamoDB VER# Item</a:t>
                      </a:r>
                    </a:p>
                  </a:txBody>
                  <a:tcPr anchor="ctr">
                    <a:solidFill>
                      <a:srgbClr val="161E2E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85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Document.Reader / All</a:t>
                      </a:r>
                    </a:p>
                  </a:txBody>
                  <a:tcPr anchor="ctr">
                    <a:solidFill>
                      <a:srgbClr val="161E2E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Sync</a:t>
                      </a:r>
                    </a:p>
                  </a:txBody>
                  <a:tcPr anchor="ctr">
                    <a:solidFill>
                      <a:srgbClr val="161E2E"/>
                    </a:solidFill>
                  </a:tcPr>
                </a:tc>
              </a:tr>
              <a:tr h="291465"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850">
                          <a:solidFill>
                            <a:srgbClr val="38BDF8"/>
                          </a:solidFill>
                          <a:latin typeface="Consolas"/>
                        </a:defRPr>
                      </a:pPr>
                      <a:r>
                        <a:t>GET /v1/documents/{id}/metadata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Get Authoritative Metadata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Lambda, S3 Annotation Get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85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Document.Reader / All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Sync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291465"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850">
                          <a:solidFill>
                            <a:srgbClr val="FBBF24"/>
                          </a:solidFill>
                          <a:latin typeface="Consolas"/>
                        </a:defRPr>
                      </a:pPr>
                      <a:r>
                        <a:t>PATCH /v1/documents/{id}/metadata</a:t>
                      </a:r>
                    </a:p>
                  </a:txBody>
                  <a:tcPr anchor="ctr">
                    <a:solidFill>
                      <a:srgbClr val="161E2E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OCC Metadata Update</a:t>
                      </a:r>
                    </a:p>
                  </a:txBody>
                  <a:tcPr anchor="ctr">
                    <a:solidFill>
                      <a:srgbClr val="161E2E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Lambda, S3 Annotate, DynamoDB</a:t>
                      </a:r>
                    </a:p>
                  </a:txBody>
                  <a:tcPr anchor="ctr">
                    <a:solidFill>
                      <a:srgbClr val="161E2E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85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Document.MetadataEditor / Writer</a:t>
                      </a:r>
                    </a:p>
                  </a:txBody>
                  <a:tcPr anchor="ctr">
                    <a:solidFill>
                      <a:srgbClr val="161E2E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Sync</a:t>
                      </a:r>
                    </a:p>
                  </a:txBody>
                  <a:tcPr anchor="ctr">
                    <a:solidFill>
                      <a:srgbClr val="161E2E"/>
                    </a:solidFill>
                  </a:tcPr>
                </a:tc>
              </a:tr>
              <a:tr h="291465"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850">
                          <a:solidFill>
                            <a:srgbClr val="38BDF8"/>
                          </a:solidFill>
                          <a:latin typeface="Consolas"/>
                        </a:defRPr>
                      </a:pPr>
                      <a:r>
                        <a:t>GET /v1/documents/{id}/download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Get Presigned Download URL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Lambda, S3 Presign (15 min)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85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Document.Reader / All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Sync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291465"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850">
                          <a:solidFill>
                            <a:srgbClr val="34D399"/>
                          </a:solidFill>
                          <a:latin typeface="Consolas"/>
                        </a:defRPr>
                      </a:pPr>
                      <a:r>
                        <a:t>POST /v1/documents/{id}/soft-delete</a:t>
                      </a:r>
                    </a:p>
                  </a:txBody>
                  <a:tcPr anchor="ctr">
                    <a:solidFill>
                      <a:srgbClr val="161E2E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Soft Delete Document</a:t>
                      </a:r>
                    </a:p>
                  </a:txBody>
                  <a:tcPr anchor="ctr">
                    <a:solidFill>
                      <a:srgbClr val="161E2E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Lambda, DynamoDB, CDC De-index</a:t>
                      </a:r>
                    </a:p>
                  </a:txBody>
                  <a:tcPr anchor="ctr">
                    <a:solidFill>
                      <a:srgbClr val="161E2E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850">
                          <a:solidFill>
                            <a:srgbClr val="C084FC"/>
                          </a:solidFill>
                          <a:latin typeface="Segoe UI"/>
                        </a:defRPr>
                      </a:pPr>
                      <a:r>
                        <a:t>Document.Admin (Exclusive)</a:t>
                      </a:r>
                    </a:p>
                  </a:txBody>
                  <a:tcPr anchor="ctr">
                    <a:solidFill>
                      <a:srgbClr val="161E2E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Sync</a:t>
                      </a:r>
                    </a:p>
                  </a:txBody>
                  <a:tcPr anchor="ctr">
                    <a:solidFill>
                      <a:srgbClr val="161E2E"/>
                    </a:solidFill>
                  </a:tcPr>
                </a:tc>
              </a:tr>
              <a:tr h="291465"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850">
                          <a:solidFill>
                            <a:srgbClr val="34D399"/>
                          </a:solidFill>
                          <a:latin typeface="Consolas"/>
                        </a:defRPr>
                      </a:pPr>
                      <a:r>
                        <a:t>POST /v1/documents/{id}/restore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Restore Document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Lambda, DynamoDB, CDC Re-index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850">
                          <a:solidFill>
                            <a:srgbClr val="C084FC"/>
                          </a:solidFill>
                          <a:latin typeface="Segoe UI"/>
                        </a:defRPr>
                      </a:pPr>
                      <a:r>
                        <a:t>Document.Admin (Exclusive)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Sync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291465"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850">
                          <a:solidFill>
                            <a:srgbClr val="34D399"/>
                          </a:solidFill>
                          <a:latin typeface="Consolas"/>
                        </a:defRPr>
                      </a:pPr>
                      <a:r>
                        <a:t>POST /v1/search</a:t>
                      </a:r>
                    </a:p>
                  </a:txBody>
                  <a:tcPr anchor="ctr">
                    <a:solidFill>
                      <a:srgbClr val="161E2E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Search Documents</a:t>
                      </a:r>
                    </a:p>
                  </a:txBody>
                  <a:tcPr anchor="ctr">
                    <a:solidFill>
                      <a:srgbClr val="161E2E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Lambda, OpenSearch Serverless</a:t>
                      </a:r>
                    </a:p>
                  </a:txBody>
                  <a:tcPr anchor="ctr">
                    <a:solidFill>
                      <a:srgbClr val="161E2E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85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Document.Reader / All</a:t>
                      </a:r>
                    </a:p>
                  </a:txBody>
                  <a:tcPr anchor="ctr">
                    <a:solidFill>
                      <a:srgbClr val="161E2E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Sync</a:t>
                      </a:r>
                    </a:p>
                  </a:txBody>
                  <a:tcPr anchor="ctr">
                    <a:solidFill>
                      <a:srgbClr val="161E2E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731520" y="6446520"/>
            <a:ext cx="10728655" cy="1371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510528"/>
            <a:ext cx="77724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AWS Document Management Platform • Solution Architecture &amp; Sequence Specification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510528"/>
            <a:ext cx="2316175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 b="1">
                <a:solidFill>
                  <a:srgbClr val="38BDF8"/>
                </a:solidFill>
                <a:latin typeface="Segoe UI"/>
              </a:defRPr>
            </a:pPr>
            <a:r>
              <a:t>10 / 22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  <a:latin typeface="Segoe UI"/>
              </a:defRPr>
            </a:pPr>
            <a:r>
              <a:t>API EXECUTION SEQUENCE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8FAFC"/>
                </a:solidFill>
                <a:latin typeface="Segoe UI"/>
              </a:defRPr>
            </a:pPr>
            <a:r>
              <a:t>Sequence Deep Dive: Inline Binary Ingestion (≤ 4 MiB)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15568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API Sequence 02: POST /v1/documents — Atomic Single-Transaction Upload Flow</a:t>
            </a:r>
          </a:p>
        </p:txBody>
      </p:sp>
      <p:pic>
        <p:nvPicPr>
          <p:cNvPr id="5" name="Picture 4" descr="02_post_documents_inlin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08760"/>
            <a:ext cx="7132320" cy="47091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046720" y="1508760"/>
            <a:ext cx="3413455" cy="47091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0" y="1691640"/>
            <a:ext cx="30476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4D399"/>
                </a:solidFill>
                <a:latin typeface="Segoe UI"/>
              </a:defRPr>
            </a:pPr>
            <a:r>
              <a:t>Sequence Breakdown</a:t>
            </a:r>
          </a:p>
          <a:p>
            <a:pPr>
              <a:spcBef>
                <a:spcPts val="600"/>
              </a:spcBef>
              <a:defRPr sz="1000" b="1">
                <a:solidFill>
                  <a:srgbClr val="38BDF8"/>
                </a:solidFill>
                <a:latin typeface="Segoe UI"/>
              </a:defRPr>
            </a:pPr>
            <a:r>
              <a:t>1. Ingress &amp; Auth:</a:t>
            </a:r>
          </a:p>
          <a:p>
            <a:pPr>
              <a:spcBef>
                <a:spcPts val="100"/>
              </a:spcBef>
              <a:defRPr sz="850">
                <a:solidFill>
                  <a:srgbClr val="94A3B8"/>
                </a:solidFill>
                <a:latin typeface="Segoe UI"/>
              </a:defRPr>
            </a:pPr>
            <a:r>
              <a:t>API Gateway verifies JWT bearer token against Cognito authorizer (requires Document.Writer or Admin).</a:t>
            </a:r>
          </a:p>
          <a:p>
            <a:pPr>
              <a:spcBef>
                <a:spcPts val="600"/>
              </a:spcBef>
              <a:defRPr sz="1000" b="1">
                <a:solidFill>
                  <a:srgbClr val="38BDF8"/>
                </a:solidFill>
                <a:latin typeface="Segoe UI"/>
              </a:defRPr>
            </a:pPr>
            <a:r>
              <a:t>2. Validation &amp; Checksum:</a:t>
            </a:r>
          </a:p>
          <a:p>
            <a:pPr>
              <a:spcBef>
                <a:spcPts val="100"/>
              </a:spcBef>
              <a:defRPr sz="850">
                <a:solidFill>
                  <a:srgbClr val="94A3B8"/>
                </a:solidFill>
                <a:latin typeface="Segoe UI"/>
              </a:defRPr>
            </a:pPr>
            <a:r>
              <a:t>Lambda calculates SHA-256 over raw binary payload and validates JSON envelope against bank.document-metadata/1 via Ajv in memory.</a:t>
            </a:r>
          </a:p>
          <a:p>
            <a:pPr>
              <a:spcBef>
                <a:spcPts val="600"/>
              </a:spcBef>
              <a:defRPr sz="1000" b="1">
                <a:solidFill>
                  <a:srgbClr val="38BDF8"/>
                </a:solidFill>
                <a:latin typeface="Segoe UI"/>
              </a:defRPr>
            </a:pPr>
            <a:r>
              <a:t>3. Storage Commit:</a:t>
            </a:r>
          </a:p>
          <a:p>
            <a:pPr>
              <a:spcBef>
                <a:spcPts val="100"/>
              </a:spcBef>
              <a:defRPr sz="850">
                <a:solidFill>
                  <a:srgbClr val="94A3B8"/>
                </a:solidFill>
                <a:latin typeface="Segoe UI"/>
              </a:defRPr>
            </a:pPr>
            <a:r>
              <a:t>Uploads binary to S3: documents/{class}/{doc_id} and attaches native S3 Annotation (document-metadata).</a:t>
            </a:r>
          </a:p>
          <a:p>
            <a:pPr>
              <a:spcBef>
                <a:spcPts val="600"/>
              </a:spcBef>
              <a:defRPr sz="1000" b="1">
                <a:solidFill>
                  <a:srgbClr val="38BDF8"/>
                </a:solidFill>
                <a:latin typeface="Segoe UI"/>
              </a:defRPr>
            </a:pPr>
            <a:r>
              <a:t>4. Atomic DynamoDB Commit:</a:t>
            </a:r>
          </a:p>
          <a:p>
            <a:pPr>
              <a:spcBef>
                <a:spcPts val="100"/>
              </a:spcBef>
              <a:defRPr sz="850">
                <a:solidFill>
                  <a:srgbClr val="94A3B8"/>
                </a:solidFill>
                <a:latin typeface="Segoe UI"/>
              </a:defRPr>
            </a:pPr>
            <a:r>
              <a:t>Executes TransactWriteItems creating pointer DOC#{id}, initial version VER#0000000001, and idempotency lock.</a:t>
            </a:r>
          </a:p>
          <a:p>
            <a:pPr>
              <a:spcBef>
                <a:spcPts val="600"/>
              </a:spcBef>
              <a:defRPr sz="1000" b="1">
                <a:solidFill>
                  <a:srgbClr val="38BDF8"/>
                </a:solidFill>
                <a:latin typeface="Segoe UI"/>
              </a:defRPr>
            </a:pPr>
            <a:r>
              <a:t>5. Downstream CDC:</a:t>
            </a:r>
          </a:p>
          <a:p>
            <a:pPr>
              <a:spcBef>
                <a:spcPts val="100"/>
              </a:spcBef>
              <a:defRPr sz="850">
                <a:solidFill>
                  <a:srgbClr val="94A3B8"/>
                </a:solidFill>
                <a:latin typeface="Segoe UI"/>
              </a:defRPr>
            </a:pPr>
            <a:r>
              <a:t>DynamoDB Streams triggers StreamProcessor Lambda asynchronously for S3 audit logging and SQS indexing.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6446520"/>
            <a:ext cx="10728655" cy="1371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510528"/>
            <a:ext cx="77724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AWS Document Management Platform • Solution Architecture &amp; Sequence Specification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0" y="6510528"/>
            <a:ext cx="2316175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 b="1">
                <a:solidFill>
                  <a:srgbClr val="38BDF8"/>
                </a:solidFill>
                <a:latin typeface="Segoe UI"/>
              </a:defRPr>
            </a:pPr>
            <a:r>
              <a:t>11 / 22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  <a:latin typeface="Segoe UI"/>
              </a:defRPr>
            </a:pPr>
            <a:r>
              <a:t>API EXECUTION SEQUENCE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8FAFC"/>
                </a:solidFill>
                <a:latin typeface="Segoe UI"/>
              </a:defRPr>
            </a:pPr>
            <a:r>
              <a:t>Sequence Deep Dive: Direct S3 Presigned Upload Lifecycle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15568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API Sequences 03 &amp; 04: POST /v1/documents/uploads &amp; POST /v1/uploads/{id}/complete</a:t>
            </a:r>
          </a:p>
        </p:txBody>
      </p:sp>
      <p:pic>
        <p:nvPicPr>
          <p:cNvPr id="5" name="Picture 4" descr="03_post_documents_uploads_ini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08760"/>
            <a:ext cx="5212080" cy="3474720"/>
          </a:xfrm>
          <a:prstGeom prst="rect">
            <a:avLst/>
          </a:prstGeom>
        </p:spPr>
      </p:pic>
      <p:pic>
        <p:nvPicPr>
          <p:cNvPr id="6" name="Picture 5" descr="04_post_uploads_complet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508760"/>
            <a:ext cx="5212080" cy="34747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5120640"/>
            <a:ext cx="10728655" cy="10972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5193792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9900"/>
                </a:solidFill>
                <a:latin typeface="Segoe UI"/>
              </a:defRPr>
            </a:pPr>
            <a:r>
              <a:t>Two-Phase Upload Protocol Highlights:</a:t>
            </a:r>
          </a:p>
          <a:p>
            <a:pPr>
              <a:spcBef>
                <a:spcPts val="200"/>
              </a:spcBef>
              <a:defRPr sz="900">
                <a:solidFill>
                  <a:srgbClr val="F8FAFC"/>
                </a:solidFill>
                <a:latin typeface="Segoe UI"/>
              </a:defRPr>
            </a:pPr>
            <a:r>
              <a:t>• Phase 1 (Init - 03): Validates metadata schema, creates UPLOAD#{id} session in DynamoDB with 24h TTL, and mints 15-min S3 presigned PUT URL.</a:t>
            </a:r>
            <a:br/>
            <a:r>
              <a:t>• Direct Transfer: Client streams multi-megabyte/gigabyte binary directly to S3 without passing through API Gateway or Lambda.</a:t>
            </a:r>
            <a:br/>
            <a:r>
              <a:t>• Phase 2 (Complete - 04): Lambda verifies S3 HeadObject (size/checksum), writes S3 Annotation, updates session state to ACTIVE, and commits DynamoDB document pointer.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6446520"/>
            <a:ext cx="10728655" cy="1371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6510528"/>
            <a:ext cx="77724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AWS Document Management Platform • Solution Architecture &amp; Sequence Specification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6510528"/>
            <a:ext cx="2316175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 b="1">
                <a:solidFill>
                  <a:srgbClr val="38BDF8"/>
                </a:solidFill>
                <a:latin typeface="Segoe UI"/>
              </a:defRPr>
            </a:pPr>
            <a:r>
              <a:t>12 / 22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  <a:latin typeface="Segoe UI"/>
              </a:defRPr>
            </a:pPr>
            <a:r>
              <a:t>API EXECUTION SEQUENCE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8FAFC"/>
                </a:solidFill>
                <a:latin typeface="Segoe UI"/>
              </a:defRPr>
            </a:pPr>
            <a:r>
              <a:t>Sequence Deep Dive: Upload Cancellation &amp; Document Inspection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15568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API Sequences 05 &amp; 06: DELETE /v1/uploads/{id} &amp; GET /v1/documents/{id}</a:t>
            </a:r>
          </a:p>
        </p:txBody>
      </p:sp>
      <p:pic>
        <p:nvPicPr>
          <p:cNvPr id="5" name="Picture 4" descr="05_delete_uploads_cance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08760"/>
            <a:ext cx="5212080" cy="3474720"/>
          </a:xfrm>
          <a:prstGeom prst="rect">
            <a:avLst/>
          </a:prstGeom>
        </p:spPr>
      </p:pic>
      <p:pic>
        <p:nvPicPr>
          <p:cNvPr id="6" name="Picture 5" descr="06_get_documents_document_i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508760"/>
            <a:ext cx="5212080" cy="34747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5120640"/>
            <a:ext cx="10728655" cy="10972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5193792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43F5E"/>
                </a:solidFill>
                <a:latin typeface="Segoe UI"/>
              </a:defRPr>
            </a:pPr>
            <a:r>
              <a:t>Cancellation &amp; Inspection Highlights:</a:t>
            </a:r>
          </a:p>
          <a:p>
            <a:pPr>
              <a:spcBef>
                <a:spcPts val="200"/>
              </a:spcBef>
              <a:defRPr sz="900">
                <a:solidFill>
                  <a:srgbClr val="F8FAFC"/>
                </a:solidFill>
                <a:latin typeface="Segoe UI"/>
              </a:defRPr>
            </a:pPr>
            <a:r>
              <a:t>• Cancel Upload (05): Aborts direct upload session in DynamoDB (state = ABORTED) and purges uncommitted staging objects from S3 to prevent orphan storage accumulation.</a:t>
            </a:r>
            <a:br/>
            <a:r>
              <a:t>• Get Document Pointer (06): Executes fast O(1) strongly consistent read on DynamoDB (pk = DOC#{id}, sk = DOC). Returns active version number, S3 version ID, status, and metadata revision in &lt;10ms.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6446520"/>
            <a:ext cx="10728655" cy="1371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6510528"/>
            <a:ext cx="77724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AWS Document Management Platform • Solution Architecture &amp; Sequence Specification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6510528"/>
            <a:ext cx="2316175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 b="1">
                <a:solidFill>
                  <a:srgbClr val="38BDF8"/>
                </a:solidFill>
                <a:latin typeface="Segoe UI"/>
              </a:defRPr>
            </a:pPr>
            <a:r>
              <a:t>13 / 22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  <a:latin typeface="Segoe UI"/>
              </a:defRPr>
            </a:pPr>
            <a:r>
              <a:t>API EXECUTION SEQUENCE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8FAFC"/>
                </a:solidFill>
                <a:latin typeface="Segoe UI"/>
              </a:defRPr>
            </a:pPr>
            <a:r>
              <a:t>Sequence Deep Dive: Version Lineage &amp; Binary Updates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15568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API Sequences 07 &amp; 08: GET /v1/documents/{id}/versions &amp; POST /v1/documents/{id}/versions</a:t>
            </a:r>
          </a:p>
        </p:txBody>
      </p:sp>
      <p:pic>
        <p:nvPicPr>
          <p:cNvPr id="5" name="Picture 4" descr="07_get_documents_version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08760"/>
            <a:ext cx="5212080" cy="3474720"/>
          </a:xfrm>
          <a:prstGeom prst="rect">
            <a:avLst/>
          </a:prstGeom>
        </p:spPr>
      </p:pic>
      <p:pic>
        <p:nvPicPr>
          <p:cNvPr id="6" name="Picture 5" descr="08_post_documents_version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508760"/>
            <a:ext cx="5212080" cy="34747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5120640"/>
            <a:ext cx="10728655" cy="10972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5193792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C084FC"/>
                </a:solidFill>
                <a:latin typeface="Segoe UI"/>
              </a:defRPr>
            </a:pPr>
            <a:r>
              <a:t>Version Lineage &amp; Binary Evolution Mechanics:</a:t>
            </a:r>
          </a:p>
          <a:p>
            <a:pPr>
              <a:spcBef>
                <a:spcPts val="200"/>
              </a:spcBef>
              <a:defRPr sz="900">
                <a:solidFill>
                  <a:srgbClr val="F8FAFC"/>
                </a:solidFill>
                <a:latin typeface="Segoe UI"/>
              </a:defRPr>
            </a:pPr>
            <a:r>
              <a:t>• Version Query (07): Fast DynamoDB query (pk = DOC#{id} AND begins_with(sk, 'VER#')) returns ordered version history without paginating S3.</a:t>
            </a:r>
            <a:br/>
            <a:r>
              <a:t>• New Version Upload (08): Uploads replacement binary to same S3 key, creating a new S3 VersionId. Increments application_version (e.g. 1 → 2), resets metadata_revision to 1, recomputes SHA-256 hash, and inserts new VER# item in DynamoDB.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6446520"/>
            <a:ext cx="10728655" cy="1371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6510528"/>
            <a:ext cx="77724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AWS Document Management Platform • Solution Architecture &amp; Sequence Specification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6510528"/>
            <a:ext cx="2316175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 b="1">
                <a:solidFill>
                  <a:srgbClr val="38BDF8"/>
                </a:solidFill>
                <a:latin typeface="Segoe UI"/>
              </a:defRPr>
            </a:pPr>
            <a:r>
              <a:t>14 / 22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  <a:latin typeface="Segoe UI"/>
              </a:defRPr>
            </a:pPr>
            <a:r>
              <a:t>API EXECUTION SEQUENCE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8FAFC"/>
                </a:solidFill>
                <a:latin typeface="Segoe UI"/>
              </a:defRPr>
            </a:pPr>
            <a:r>
              <a:t>Sequence Deep Dive: Historical Versions &amp; Authoritative Metadata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15568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API Sequences 09 &amp; 10: GET /v1/documents/{id}/versions/{v} &amp; GET /v1/documents/{id}/metadata</a:t>
            </a:r>
          </a:p>
        </p:txBody>
      </p:sp>
      <p:pic>
        <p:nvPicPr>
          <p:cNvPr id="5" name="Picture 4" descr="09_get_documents_version_i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08760"/>
            <a:ext cx="5212080" cy="3474720"/>
          </a:xfrm>
          <a:prstGeom prst="rect">
            <a:avLst/>
          </a:prstGeom>
        </p:spPr>
      </p:pic>
      <p:pic>
        <p:nvPicPr>
          <p:cNvPr id="6" name="Picture 5" descr="10_get_documents_metadata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508760"/>
            <a:ext cx="5212080" cy="34747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5120640"/>
            <a:ext cx="10728655" cy="10972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5193792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Historical &amp; Authoritative Metadata Retrieval:</a:t>
            </a:r>
          </a:p>
          <a:p>
            <a:pPr>
              <a:spcBef>
                <a:spcPts val="200"/>
              </a:spcBef>
              <a:defRPr sz="900">
                <a:solidFill>
                  <a:srgbClr val="F8FAFC"/>
                </a:solidFill>
                <a:latin typeface="Segoe UI"/>
              </a:defRPr>
            </a:pPr>
            <a:r>
              <a:t>• Historical Version Details (09): Fetches historical version record (pk = DOC#{id}, sk = VER#{padded_version}) from DynamoDB, returning immutable content length, checksum, and S3 version ID.</a:t>
            </a:r>
            <a:br/>
            <a:r>
              <a:t>• Authoritative Metadata JSON (10): Resolves active version pointer from DynamoDB and fetches the complete authoritative S3 JSON annotation (document-metadata) directly from S3 via GetObjectAnnotation.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6446520"/>
            <a:ext cx="10728655" cy="1371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6510528"/>
            <a:ext cx="77724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AWS Document Management Platform • Solution Architecture &amp; Sequence Specification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6510528"/>
            <a:ext cx="2316175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 b="1">
                <a:solidFill>
                  <a:srgbClr val="38BDF8"/>
                </a:solidFill>
                <a:latin typeface="Segoe UI"/>
              </a:defRPr>
            </a:pPr>
            <a:r>
              <a:t>15 / 22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  <a:latin typeface="Segoe UI"/>
              </a:defRPr>
            </a:pPr>
            <a:r>
              <a:t>API EXECUTION SEQUENCE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8FAFC"/>
                </a:solidFill>
                <a:latin typeface="Segoe UI"/>
              </a:defRPr>
            </a:pPr>
            <a:r>
              <a:t>Sequence Deep Dive: Optimistic Concurrency Metadata Patch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15568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API Sequence 11: PATCH /v1/documents/{id}/metadata — Race-Free Metadata Evolution</a:t>
            </a:r>
          </a:p>
        </p:txBody>
      </p:sp>
      <p:pic>
        <p:nvPicPr>
          <p:cNvPr id="5" name="Picture 4" descr="11_patch_documents_metadat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08760"/>
            <a:ext cx="7132320" cy="47091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046720" y="1508760"/>
            <a:ext cx="3413455" cy="47091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0" y="1691640"/>
            <a:ext cx="30476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BBF24"/>
                </a:solidFill>
                <a:latin typeface="Segoe UI"/>
              </a:defRPr>
            </a:pPr>
            <a:r>
              <a:t>Execution Sequence Steps</a:t>
            </a:r>
          </a:p>
          <a:p>
            <a:pPr>
              <a:spcBef>
                <a:spcPts val="500"/>
              </a:spcBef>
              <a:defRPr sz="950" b="1">
                <a:solidFill>
                  <a:srgbClr val="38BDF8"/>
                </a:solidFill>
                <a:latin typeface="Segoe UI"/>
              </a:defRPr>
            </a:pPr>
            <a:r>
              <a:t>1. Read &amp; OCC Check:</a:t>
            </a:r>
          </a:p>
          <a:p>
            <a:pPr>
              <a:spcBef>
                <a:spcPts val="100"/>
              </a:spcBef>
              <a:defRPr sz="850">
                <a:solidFill>
                  <a:srgbClr val="94A3B8"/>
                </a:solidFill>
                <a:latin typeface="Segoe UI"/>
              </a:defRPr>
            </a:pPr>
            <a:r>
              <a:t>Strongly consistent read on DynamoDB DOC#{id}. Compares expected_metadata_revision with current_metadata_revision (returns 409 Conflict if mismatch).</a:t>
            </a:r>
          </a:p>
          <a:p>
            <a:pPr>
              <a:spcBef>
                <a:spcPts val="500"/>
              </a:spcBef>
              <a:defRPr sz="950" b="1">
                <a:solidFill>
                  <a:srgbClr val="38BDF8"/>
                </a:solidFill>
                <a:latin typeface="Segoe UI"/>
              </a:defRPr>
            </a:pPr>
            <a:r>
              <a:t>2. S3 Annotation Retrieval:</a:t>
            </a:r>
          </a:p>
          <a:p>
            <a:pPr>
              <a:spcBef>
                <a:spcPts val="100"/>
              </a:spcBef>
              <a:defRPr sz="850">
                <a:solidFill>
                  <a:srgbClr val="94A3B8"/>
                </a:solidFill>
                <a:latin typeface="Segoe UI"/>
              </a:defRPr>
            </a:pPr>
            <a:r>
              <a:t>Fetches existing JSON annotation from S3 version via GetObjectAnnotation.</a:t>
            </a:r>
          </a:p>
          <a:p>
            <a:pPr>
              <a:spcBef>
                <a:spcPts val="500"/>
              </a:spcBef>
              <a:defRPr sz="950" b="1">
                <a:solidFill>
                  <a:srgbClr val="38BDF8"/>
                </a:solidFill>
                <a:latin typeface="Segoe UI"/>
              </a:defRPr>
            </a:pPr>
            <a:r>
              <a:t>3. Validation &amp; Schema Check:</a:t>
            </a:r>
          </a:p>
          <a:p>
            <a:pPr>
              <a:spcBef>
                <a:spcPts val="100"/>
              </a:spcBef>
              <a:defRPr sz="850">
                <a:solidFill>
                  <a:srgbClr val="94A3B8"/>
                </a:solidFill>
                <a:latin typeface="Segoe UI"/>
              </a:defRPr>
            </a:pPr>
            <a:r>
              <a:t>Rejects any attempt to modify immutable fields. Increments revision to N+1 and validates complete merged payload via Ajv.</a:t>
            </a:r>
          </a:p>
          <a:p>
            <a:pPr>
              <a:spcBef>
                <a:spcPts val="500"/>
              </a:spcBef>
              <a:defRPr sz="950" b="1">
                <a:solidFill>
                  <a:srgbClr val="38BDF8"/>
                </a:solidFill>
                <a:latin typeface="Segoe UI"/>
              </a:defRPr>
            </a:pPr>
            <a:r>
              <a:t>4. S3 Annotation Update:</a:t>
            </a:r>
          </a:p>
          <a:p>
            <a:pPr>
              <a:spcBef>
                <a:spcPts val="100"/>
              </a:spcBef>
              <a:defRPr sz="850">
                <a:solidFill>
                  <a:srgbClr val="94A3B8"/>
                </a:solidFill>
                <a:latin typeface="Segoe UI"/>
              </a:defRPr>
            </a:pPr>
            <a:r>
              <a:t>Writes updated JSON annotation in-place via PutObjectAnnotationCommand.</a:t>
            </a:r>
          </a:p>
          <a:p>
            <a:pPr>
              <a:spcBef>
                <a:spcPts val="500"/>
              </a:spcBef>
              <a:defRPr sz="950" b="1">
                <a:solidFill>
                  <a:srgbClr val="38BDF8"/>
                </a:solidFill>
                <a:latin typeface="Segoe UI"/>
              </a:defRPr>
            </a:pPr>
            <a:r>
              <a:t>5. Atomic Conditional Update:</a:t>
            </a:r>
          </a:p>
          <a:p>
            <a:pPr>
              <a:spcBef>
                <a:spcPts val="100"/>
              </a:spcBef>
              <a:defRPr sz="850">
                <a:solidFill>
                  <a:srgbClr val="94A3B8"/>
                </a:solidFill>
                <a:latin typeface="Segoe UI"/>
              </a:defRPr>
            </a:pPr>
            <a:r>
              <a:t>Updates DynamoDB pointer with ConditionExpression: current_metadata_revision = :expRev, guaranteeing atomicity.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6446520"/>
            <a:ext cx="10728655" cy="1371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510528"/>
            <a:ext cx="77724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AWS Document Management Platform • Solution Architecture &amp; Sequence Specification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0" y="6510528"/>
            <a:ext cx="2316175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 b="1">
                <a:solidFill>
                  <a:srgbClr val="38BDF8"/>
                </a:solidFill>
                <a:latin typeface="Segoe UI"/>
              </a:defRPr>
            </a:pPr>
            <a:r>
              <a:t>16 / 22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  <a:latin typeface="Segoe UI"/>
              </a:defRPr>
            </a:pPr>
            <a:r>
              <a:t>API EXECUTION SEQUENCE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8FAFC"/>
                </a:solidFill>
                <a:latin typeface="Segoe UI"/>
              </a:defRPr>
            </a:pPr>
            <a:r>
              <a:t>Sequence Deep Dive: Secure Download, Soft Delete &amp; Restore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15568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API Sequences 12, 13 &amp; 14: Direct Binary Access &amp; Non-Destructive Lifecycle Governance</a:t>
            </a:r>
          </a:p>
        </p:txBody>
      </p:sp>
      <p:pic>
        <p:nvPicPr>
          <p:cNvPr id="5" name="Picture 4" descr="12_get_documents_downloa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08760"/>
            <a:ext cx="5212080" cy="3474720"/>
          </a:xfrm>
          <a:prstGeom prst="rect">
            <a:avLst/>
          </a:prstGeom>
        </p:spPr>
      </p:pic>
      <p:pic>
        <p:nvPicPr>
          <p:cNvPr id="6" name="Picture 5" descr="13_post_documents_soft_delet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508760"/>
            <a:ext cx="5212080" cy="34747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5120640"/>
            <a:ext cx="10728655" cy="10972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5193792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4D399"/>
                </a:solidFill>
                <a:latin typeface="Segoe UI"/>
              </a:defRPr>
            </a:pPr>
            <a:r>
              <a:t>Download &amp; Compliance Lifecycle Highlights:</a:t>
            </a:r>
          </a:p>
          <a:p>
            <a:pPr>
              <a:spcBef>
                <a:spcPts val="200"/>
              </a:spcBef>
              <a:defRPr sz="900">
                <a:solidFill>
                  <a:srgbClr val="F8FAFC"/>
                </a:solidFill>
                <a:latin typeface="Segoe UI"/>
              </a:defRPr>
            </a:pPr>
            <a:r>
              <a:t>• Secure Direct Download (12): Generates short-lived (15-min) S3 presigned GET URL. Client streams binary directly from S3, eliminating Lambda egress costs.</a:t>
            </a:r>
            <a:br/>
            <a:r>
              <a:t>• Logical Soft Delete (13): Sets status: 'SOFT_DELETED' in DynamoDB and triggers CDC stream to remove document from OpenSearch index. S3 WORM binary and annotations remain completely untouched for regulatory compliance or restoration (14).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6446520"/>
            <a:ext cx="10728655" cy="1371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6510528"/>
            <a:ext cx="77724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AWS Document Management Platform • Solution Architecture &amp; Sequence Specification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6510528"/>
            <a:ext cx="2316175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 b="1">
                <a:solidFill>
                  <a:srgbClr val="38BDF8"/>
                </a:solidFill>
                <a:latin typeface="Segoe UI"/>
              </a:defRPr>
            </a:pPr>
            <a:r>
              <a:t>17 / 22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  <a:latin typeface="Segoe UI"/>
              </a:defRPr>
            </a:pPr>
            <a:r>
              <a:t>API EXECUTION SEQUENCE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8FAFC"/>
                </a:solidFill>
                <a:latin typeface="Segoe UI"/>
              </a:defRPr>
            </a:pPr>
            <a:r>
              <a:t>Sequence Deep Dive: OpenSearch Search &amp; Deep Health Probe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15568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API Sequences 15 &amp; 01: POST /v1/search &amp; GET /health</a:t>
            </a:r>
          </a:p>
        </p:txBody>
      </p:sp>
      <p:pic>
        <p:nvPicPr>
          <p:cNvPr id="5" name="Picture 4" descr="15_post_search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08760"/>
            <a:ext cx="5212080" cy="3474720"/>
          </a:xfrm>
          <a:prstGeom prst="rect">
            <a:avLst/>
          </a:prstGeom>
        </p:spPr>
      </p:pic>
      <p:pic>
        <p:nvPicPr>
          <p:cNvPr id="6" name="Picture 5" descr="01_get_health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508760"/>
            <a:ext cx="5212080" cy="34747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5120640"/>
            <a:ext cx="10728655" cy="10972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5193792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C084FC"/>
                </a:solidFill>
                <a:latin typeface="Segoe UI"/>
              </a:defRPr>
            </a:pPr>
            <a:r>
              <a:t>Search Querying &amp; Observability Highlights: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6446520"/>
            <a:ext cx="10728655" cy="1371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6510528"/>
            <a:ext cx="77724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AWS Document Management Platform • Solution Architecture &amp; Sequence Specification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6510528"/>
            <a:ext cx="2316175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 b="1">
                <a:solidFill>
                  <a:srgbClr val="38BDF8"/>
                </a:solidFill>
                <a:latin typeface="Segoe UI"/>
              </a:defRPr>
            </a:pPr>
            <a:r>
              <a:t>18 / 22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  <a:latin typeface="Segoe UI"/>
              </a:defRPr>
            </a:pPr>
            <a:r>
              <a:t>CLIENT INTEGRATION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8FAFC"/>
                </a:solidFill>
                <a:latin typeface="Segoe UI"/>
              </a:defRPr>
            </a:pPr>
            <a:r>
              <a:t>Serverless Web Portal &amp; Client Integration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15568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CloudFront + S3 SPA, Cognito JWT Authentication &amp; Client-Side SHA256 Checksums</a:t>
            </a:r>
          </a:p>
        </p:txBody>
      </p:sp>
      <p:pic>
        <p:nvPicPr>
          <p:cNvPr id="5" name="Picture 4" descr="ui_backend_integration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08760"/>
            <a:ext cx="7315200" cy="47091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229600" y="1508760"/>
            <a:ext cx="3230575" cy="47091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0" y="1691640"/>
            <a:ext cx="286481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9900"/>
                </a:solidFill>
                <a:latin typeface="Segoe UI"/>
              </a:defRPr>
            </a:pPr>
            <a:r>
              <a:t>Integration Highlights</a:t>
            </a:r>
          </a:p>
          <a:p>
            <a:pPr>
              <a:spcBef>
                <a:spcPts val="600"/>
              </a:spcBef>
              <a:defRPr sz="1000" b="1">
                <a:solidFill>
                  <a:srgbClr val="38BDF8"/>
                </a:solidFill>
                <a:latin typeface="Segoe UI"/>
              </a:defRPr>
            </a:pPr>
            <a:r>
              <a:t>• 1-Click Persona Simulator: </a:t>
            </a:r>
            <a:r>
              <a:rPr sz="950">
                <a:solidFill>
                  <a:srgbClr val="94A3B8"/>
                </a:solidFill>
                <a:latin typeface="Segoe UI"/>
              </a:rPr>
              <a:t>Instant token generation for Document.Admin, Document.Writer, Document.Reader, and Compliance Officer.</a:t>
            </a:r>
          </a:p>
          <a:p>
            <a:pPr>
              <a:spcBef>
                <a:spcPts val="600"/>
              </a:spcBef>
              <a:defRPr sz="1000" b="1">
                <a:solidFill>
                  <a:srgbClr val="38BDF8"/>
                </a:solidFill>
                <a:latin typeface="Segoe UI"/>
              </a:defRPr>
            </a:pPr>
            <a:r>
              <a:t>• Automatic Token Ingress: </a:t>
            </a:r>
            <a:r>
              <a:rPr sz="950">
                <a:solidFill>
                  <a:srgbClr val="94A3B8"/>
                </a:solidFill>
                <a:latin typeface="Segoe UI"/>
              </a:rPr>
              <a:t>Signs all HTTP requests with Cognito OAuth 2.0 / OpenID Connect JWT tokens.</a:t>
            </a:r>
          </a:p>
          <a:p>
            <a:pPr>
              <a:spcBef>
                <a:spcPts val="600"/>
              </a:spcBef>
              <a:defRPr sz="1000" b="1">
                <a:solidFill>
                  <a:srgbClr val="38BDF8"/>
                </a:solidFill>
                <a:latin typeface="Segoe UI"/>
              </a:defRPr>
            </a:pPr>
            <a:r>
              <a:t>• Bimodal File Upload UI: </a:t>
            </a:r>
            <a:r>
              <a:rPr sz="950">
                <a:solidFill>
                  <a:srgbClr val="94A3B8"/>
                </a:solidFill>
                <a:latin typeface="Segoe UI"/>
              </a:rPr>
              <a:t>Direct S3 presigned upload with client-side SHA256 hashing and inline binary upload (&lt; 4 MiB).</a:t>
            </a:r>
          </a:p>
          <a:p>
            <a:pPr>
              <a:spcBef>
                <a:spcPts val="600"/>
              </a:spcBef>
              <a:defRPr sz="1000" b="1">
                <a:solidFill>
                  <a:srgbClr val="38BDF8"/>
                </a:solidFill>
                <a:latin typeface="Segoe UI"/>
              </a:defRPr>
            </a:pPr>
            <a:r>
              <a:t>• OpenSearch Discovery: </a:t>
            </a:r>
            <a:r>
              <a:rPr sz="950">
                <a:solidFill>
                  <a:srgbClr val="94A3B8"/>
                </a:solidFill>
                <a:latin typeface="Segoe UI"/>
              </a:rPr>
              <a:t>Real-time faceted exploration with dynamic status and attribute filters.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6446520"/>
            <a:ext cx="10728655" cy="1371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510528"/>
            <a:ext cx="77724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AWS Document Management Platform • Solution Architecture &amp; Sequence Specification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0" y="6510528"/>
            <a:ext cx="2316175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 b="1">
                <a:solidFill>
                  <a:srgbClr val="38BDF8"/>
                </a:solidFill>
                <a:latin typeface="Segoe UI"/>
              </a:defRPr>
            </a:pPr>
            <a:r>
              <a:t>19 / 22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9164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Segoe UI"/>
              </a:defRPr>
            </a:pPr>
            <a:r>
              <a:t>Cognito RBAC Matrix Enforcement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2057400"/>
          <a:ext cx="5120640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731520"/>
                <a:gridCol w="731520"/>
                <a:gridCol w="731520"/>
                <a:gridCol w="731520"/>
              </a:tblGrid>
              <a:tr h="436880">
                <a:tc>
                  <a:txBody>
                    <a:bodyPr wrap="square" lIns="18288" rIns="18288" tIns="18288" bIns="18288"/>
                    <a:lstStyle/>
                    <a:p>
                      <a:pPr algn="l">
                        <a:defRPr sz="850" b="1">
                          <a:solidFill>
                            <a:srgbClr val="FF9900"/>
                          </a:solidFill>
                          <a:latin typeface="Segoe UI"/>
                        </a:defRPr>
                      </a:pPr>
                      <a:r>
                        <a:t>Operation</a:t>
                      </a:r>
                    </a:p>
                  </a:txBody>
                  <a:tcPr anchor="ctr">
                    <a:solidFill>
                      <a:srgbClr val="18202F"/>
                    </a:solidFill>
                  </a:tcPr>
                </a:tc>
                <a:tc>
                  <a:txBody>
                    <a:bodyPr wrap="square" lIns="18288" rIns="18288" tIns="18288" bIns="18288"/>
                    <a:lstStyle/>
                    <a:p>
                      <a:pPr algn="ctr">
                        <a:defRPr sz="850" b="1">
                          <a:solidFill>
                            <a:srgbClr val="38BDF8"/>
                          </a:solidFill>
                          <a:latin typeface="Segoe UI"/>
                        </a:defRPr>
                      </a:pPr>
                      <a:r>
                        <a:t>Reader</a:t>
                      </a:r>
                    </a:p>
                  </a:txBody>
                  <a:tcPr anchor="ctr">
                    <a:solidFill>
                      <a:srgbClr val="18202F"/>
                    </a:solidFill>
                  </a:tcPr>
                </a:tc>
                <a:tc>
                  <a:txBody>
                    <a:bodyPr wrap="square" lIns="18288" rIns="18288" tIns="18288" bIns="18288"/>
                    <a:lstStyle/>
                    <a:p>
                      <a:pPr algn="ctr">
                        <a:defRPr sz="850" b="1">
                          <a:solidFill>
                            <a:srgbClr val="38BDF8"/>
                          </a:solidFill>
                          <a:latin typeface="Segoe UI"/>
                        </a:defRPr>
                      </a:pPr>
                      <a:r>
                        <a:t>Writer</a:t>
                      </a:r>
                    </a:p>
                  </a:txBody>
                  <a:tcPr anchor="ctr">
                    <a:solidFill>
                      <a:srgbClr val="18202F"/>
                    </a:solidFill>
                  </a:tcPr>
                </a:tc>
                <a:tc>
                  <a:txBody>
                    <a:bodyPr wrap="square" lIns="18288" rIns="18288" tIns="18288" bIns="18288"/>
                    <a:lstStyle/>
                    <a:p>
                      <a:pPr algn="ctr">
                        <a:defRPr sz="850" b="1">
                          <a:solidFill>
                            <a:srgbClr val="38BDF8"/>
                          </a:solidFill>
                          <a:latin typeface="Segoe UI"/>
                        </a:defRPr>
                      </a:pPr>
                      <a:r>
                        <a:t>Editor</a:t>
                      </a:r>
                    </a:p>
                  </a:txBody>
                  <a:tcPr anchor="ctr">
                    <a:solidFill>
                      <a:srgbClr val="18202F"/>
                    </a:solidFill>
                  </a:tcPr>
                </a:tc>
                <a:tc>
                  <a:txBody>
                    <a:bodyPr wrap="square" lIns="18288" rIns="18288" tIns="18288" bIns="18288"/>
                    <a:lstStyle/>
                    <a:p>
                      <a:pPr algn="ctr">
                        <a:defRPr sz="850" b="1">
                          <a:solidFill>
                            <a:srgbClr val="38BDF8"/>
                          </a:solidFill>
                          <a:latin typeface="Segoe UI"/>
                        </a:defRPr>
                      </a:pPr>
                      <a:r>
                        <a:t>Admin</a:t>
                      </a:r>
                    </a:p>
                  </a:txBody>
                  <a:tcPr anchor="ctr">
                    <a:solidFill>
                      <a:srgbClr val="18202F"/>
                    </a:solidFill>
                  </a:tcPr>
                </a:tc>
              </a:tr>
              <a:tr h="436880">
                <a:tc>
                  <a:txBody>
                    <a:bodyPr wrap="square" lIns="18288" rIns="18288" tIns="18288" bIns="18288"/>
                    <a:lstStyle/>
                    <a:p>
                      <a:pPr algn="l">
                        <a:defRPr sz="800">
                          <a:solidFill>
                            <a:srgbClr val="F8FAFC"/>
                          </a:solidFill>
                          <a:latin typeface="Consolas"/>
                        </a:defRPr>
                      </a:pPr>
                      <a:r>
                        <a:t>POST /v1/documents</a:t>
                      </a:r>
                    </a:p>
                  </a:txBody>
                  <a:tcPr anchor="ctr">
                    <a:solidFill>
                      <a:srgbClr val="161E2E"/>
                    </a:solidFill>
                  </a:tcPr>
                </a:tc>
                <a:tc>
                  <a:txBody>
                    <a:bodyPr wrap="square" lIns="18288" rIns="18288" tIns="18288" bIns="18288"/>
                    <a:lstStyle/>
                    <a:p>
                      <a:pPr algn="ctr">
                        <a:defRPr sz="800">
                          <a:solidFill>
                            <a:srgbClr val="F43F5E"/>
                          </a:solidFill>
                          <a:latin typeface="Segoe UI"/>
                        </a:defRPr>
                      </a:pPr>
                      <a:r>
                        <a:t>❌</a:t>
                      </a:r>
                    </a:p>
                  </a:txBody>
                  <a:tcPr anchor="ctr">
                    <a:solidFill>
                      <a:srgbClr val="161E2E"/>
                    </a:solidFill>
                  </a:tcPr>
                </a:tc>
                <a:tc>
                  <a:txBody>
                    <a:bodyPr wrap="square" lIns="18288" rIns="18288" tIns="18288" bIns="18288"/>
                    <a:lstStyle/>
                    <a:p>
                      <a:pPr algn="ctr">
                        <a:defRPr sz="800">
                          <a:solidFill>
                            <a:srgbClr val="34D399"/>
                          </a:solidFill>
                          <a:latin typeface="Segoe UI"/>
                        </a:defRPr>
                      </a:pPr>
                      <a:r>
                        <a:t>✅</a:t>
                      </a:r>
                    </a:p>
                  </a:txBody>
                  <a:tcPr anchor="ctr">
                    <a:solidFill>
                      <a:srgbClr val="161E2E"/>
                    </a:solidFill>
                  </a:tcPr>
                </a:tc>
                <a:tc>
                  <a:txBody>
                    <a:bodyPr wrap="square" lIns="18288" rIns="18288" tIns="18288" bIns="18288"/>
                    <a:lstStyle/>
                    <a:p>
                      <a:pPr algn="ctr">
                        <a:defRPr sz="800">
                          <a:solidFill>
                            <a:srgbClr val="F43F5E"/>
                          </a:solidFill>
                          <a:latin typeface="Segoe UI"/>
                        </a:defRPr>
                      </a:pPr>
                      <a:r>
                        <a:t>❌</a:t>
                      </a:r>
                    </a:p>
                  </a:txBody>
                  <a:tcPr anchor="ctr">
                    <a:solidFill>
                      <a:srgbClr val="161E2E"/>
                    </a:solidFill>
                  </a:tcPr>
                </a:tc>
                <a:tc>
                  <a:txBody>
                    <a:bodyPr wrap="square" lIns="18288" rIns="18288" tIns="18288" bIns="18288"/>
                    <a:lstStyle/>
                    <a:p>
                      <a:pPr algn="ctr">
                        <a:defRPr sz="800">
                          <a:solidFill>
                            <a:srgbClr val="34D399"/>
                          </a:solidFill>
                          <a:latin typeface="Segoe UI"/>
                        </a:defRPr>
                      </a:pPr>
                      <a:r>
                        <a:t>✅</a:t>
                      </a:r>
                    </a:p>
                  </a:txBody>
                  <a:tcPr anchor="ctr">
                    <a:solidFill>
                      <a:srgbClr val="161E2E"/>
                    </a:solidFill>
                  </a:tcPr>
                </a:tc>
              </a:tr>
              <a:tr h="436880">
                <a:tc>
                  <a:txBody>
                    <a:bodyPr wrap="square" lIns="18288" rIns="18288" tIns="18288" bIns="18288"/>
                    <a:lstStyle/>
                    <a:p>
                      <a:pPr algn="l">
                        <a:defRPr sz="800">
                          <a:solidFill>
                            <a:srgbClr val="F8FAFC"/>
                          </a:solidFill>
                          <a:latin typeface="Consolas"/>
                        </a:defRPr>
                      </a:pPr>
                      <a:r>
                        <a:t>GET /v1/documents/{id}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lIns="18288" rIns="18288" tIns="18288" bIns="18288"/>
                    <a:lstStyle/>
                    <a:p>
                      <a:pPr algn="ctr">
                        <a:defRPr sz="800">
                          <a:solidFill>
                            <a:srgbClr val="34D399"/>
                          </a:solidFill>
                          <a:latin typeface="Segoe UI"/>
                        </a:defRPr>
                      </a:pPr>
                      <a:r>
                        <a:t>✅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lIns="18288" rIns="18288" tIns="18288" bIns="18288"/>
                    <a:lstStyle/>
                    <a:p>
                      <a:pPr algn="ctr">
                        <a:defRPr sz="800">
                          <a:solidFill>
                            <a:srgbClr val="34D399"/>
                          </a:solidFill>
                          <a:latin typeface="Segoe UI"/>
                        </a:defRPr>
                      </a:pPr>
                      <a:r>
                        <a:t>✅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lIns="18288" rIns="18288" tIns="18288" bIns="18288"/>
                    <a:lstStyle/>
                    <a:p>
                      <a:pPr algn="ctr">
                        <a:defRPr sz="800">
                          <a:solidFill>
                            <a:srgbClr val="34D399"/>
                          </a:solidFill>
                          <a:latin typeface="Segoe UI"/>
                        </a:defRPr>
                      </a:pPr>
                      <a:r>
                        <a:t>✅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lIns="18288" rIns="18288" tIns="18288" bIns="18288"/>
                    <a:lstStyle/>
                    <a:p>
                      <a:pPr algn="ctr">
                        <a:defRPr sz="800">
                          <a:solidFill>
                            <a:srgbClr val="34D399"/>
                          </a:solidFill>
                          <a:latin typeface="Segoe UI"/>
                        </a:defRPr>
                      </a:pPr>
                      <a:r>
                        <a:t>✅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436880">
                <a:tc>
                  <a:txBody>
                    <a:bodyPr wrap="square" lIns="18288" rIns="18288" tIns="18288" bIns="18288"/>
                    <a:lstStyle/>
                    <a:p>
                      <a:pPr algn="l">
                        <a:defRPr sz="800">
                          <a:solidFill>
                            <a:srgbClr val="F8FAFC"/>
                          </a:solidFill>
                          <a:latin typeface="Consolas"/>
                        </a:defRPr>
                      </a:pPr>
                      <a:r>
                        <a:t>GET /v1/download</a:t>
                      </a:r>
                    </a:p>
                  </a:txBody>
                  <a:tcPr anchor="ctr">
                    <a:solidFill>
                      <a:srgbClr val="161E2E"/>
                    </a:solidFill>
                  </a:tcPr>
                </a:tc>
                <a:tc>
                  <a:txBody>
                    <a:bodyPr wrap="square" lIns="18288" rIns="18288" tIns="18288" bIns="18288"/>
                    <a:lstStyle/>
                    <a:p>
                      <a:pPr algn="ctr">
                        <a:defRPr sz="800">
                          <a:solidFill>
                            <a:srgbClr val="34D399"/>
                          </a:solidFill>
                          <a:latin typeface="Segoe UI"/>
                        </a:defRPr>
                      </a:pPr>
                      <a:r>
                        <a:t>✅</a:t>
                      </a:r>
                    </a:p>
                  </a:txBody>
                  <a:tcPr anchor="ctr">
                    <a:solidFill>
                      <a:srgbClr val="161E2E"/>
                    </a:solidFill>
                  </a:tcPr>
                </a:tc>
                <a:tc>
                  <a:txBody>
                    <a:bodyPr wrap="square" lIns="18288" rIns="18288" tIns="18288" bIns="18288"/>
                    <a:lstStyle/>
                    <a:p>
                      <a:pPr algn="ctr">
                        <a:defRPr sz="800">
                          <a:solidFill>
                            <a:srgbClr val="34D399"/>
                          </a:solidFill>
                          <a:latin typeface="Segoe UI"/>
                        </a:defRPr>
                      </a:pPr>
                      <a:r>
                        <a:t>✅</a:t>
                      </a:r>
                    </a:p>
                  </a:txBody>
                  <a:tcPr anchor="ctr">
                    <a:solidFill>
                      <a:srgbClr val="161E2E"/>
                    </a:solidFill>
                  </a:tcPr>
                </a:tc>
                <a:tc>
                  <a:txBody>
                    <a:bodyPr wrap="square" lIns="18288" rIns="18288" tIns="18288" bIns="18288"/>
                    <a:lstStyle/>
                    <a:p>
                      <a:pPr algn="ctr">
                        <a:defRPr sz="800">
                          <a:solidFill>
                            <a:srgbClr val="34D399"/>
                          </a:solidFill>
                          <a:latin typeface="Segoe UI"/>
                        </a:defRPr>
                      </a:pPr>
                      <a:r>
                        <a:t>✅</a:t>
                      </a:r>
                    </a:p>
                  </a:txBody>
                  <a:tcPr anchor="ctr">
                    <a:solidFill>
                      <a:srgbClr val="161E2E"/>
                    </a:solidFill>
                  </a:tcPr>
                </a:tc>
                <a:tc>
                  <a:txBody>
                    <a:bodyPr wrap="square" lIns="18288" rIns="18288" tIns="18288" bIns="18288"/>
                    <a:lstStyle/>
                    <a:p>
                      <a:pPr algn="ctr">
                        <a:defRPr sz="800">
                          <a:solidFill>
                            <a:srgbClr val="34D399"/>
                          </a:solidFill>
                          <a:latin typeface="Segoe UI"/>
                        </a:defRPr>
                      </a:pPr>
                      <a:r>
                        <a:t>✅</a:t>
                      </a:r>
                    </a:p>
                  </a:txBody>
                  <a:tcPr anchor="ctr">
                    <a:solidFill>
                      <a:srgbClr val="161E2E"/>
                    </a:solidFill>
                  </a:tcPr>
                </a:tc>
              </a:tr>
              <a:tr h="436880">
                <a:tc>
                  <a:txBody>
                    <a:bodyPr wrap="square" lIns="18288" rIns="18288" tIns="18288" bIns="18288"/>
                    <a:lstStyle/>
                    <a:p>
                      <a:pPr algn="l">
                        <a:defRPr sz="800">
                          <a:solidFill>
                            <a:srgbClr val="F8FAFC"/>
                          </a:solidFill>
                          <a:latin typeface="Consolas"/>
                        </a:defRPr>
                      </a:pPr>
                      <a:r>
                        <a:t>POST /versions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lIns="18288" rIns="18288" tIns="18288" bIns="18288"/>
                    <a:lstStyle/>
                    <a:p>
                      <a:pPr algn="ctr">
                        <a:defRPr sz="800">
                          <a:solidFill>
                            <a:srgbClr val="F43F5E"/>
                          </a:solidFill>
                          <a:latin typeface="Segoe UI"/>
                        </a:defRPr>
                      </a:pPr>
                      <a:r>
                        <a:t>❌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lIns="18288" rIns="18288" tIns="18288" bIns="18288"/>
                    <a:lstStyle/>
                    <a:p>
                      <a:pPr algn="ctr">
                        <a:defRPr sz="800">
                          <a:solidFill>
                            <a:srgbClr val="34D399"/>
                          </a:solidFill>
                          <a:latin typeface="Segoe UI"/>
                        </a:defRPr>
                      </a:pPr>
                      <a:r>
                        <a:t>✅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lIns="18288" rIns="18288" tIns="18288" bIns="18288"/>
                    <a:lstStyle/>
                    <a:p>
                      <a:pPr algn="ctr">
                        <a:defRPr sz="800">
                          <a:solidFill>
                            <a:srgbClr val="F43F5E"/>
                          </a:solidFill>
                          <a:latin typeface="Segoe UI"/>
                        </a:defRPr>
                      </a:pPr>
                      <a:r>
                        <a:t>❌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lIns="18288" rIns="18288" tIns="18288" bIns="18288"/>
                    <a:lstStyle/>
                    <a:p>
                      <a:pPr algn="ctr">
                        <a:defRPr sz="800">
                          <a:solidFill>
                            <a:srgbClr val="34D399"/>
                          </a:solidFill>
                          <a:latin typeface="Segoe UI"/>
                        </a:defRPr>
                      </a:pPr>
                      <a:r>
                        <a:t>✅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436880">
                <a:tc>
                  <a:txBody>
                    <a:bodyPr wrap="square" lIns="18288" rIns="18288" tIns="18288" bIns="18288"/>
                    <a:lstStyle/>
                    <a:p>
                      <a:pPr algn="l">
                        <a:defRPr sz="800">
                          <a:solidFill>
                            <a:srgbClr val="F8FAFC"/>
                          </a:solidFill>
                          <a:latin typeface="Consolas"/>
                        </a:defRPr>
                      </a:pPr>
                      <a:r>
                        <a:t>PATCH /metadata</a:t>
                      </a:r>
                    </a:p>
                  </a:txBody>
                  <a:tcPr anchor="ctr">
                    <a:solidFill>
                      <a:srgbClr val="161E2E"/>
                    </a:solidFill>
                  </a:tcPr>
                </a:tc>
                <a:tc>
                  <a:txBody>
                    <a:bodyPr wrap="square" lIns="18288" rIns="18288" tIns="18288" bIns="18288"/>
                    <a:lstStyle/>
                    <a:p>
                      <a:pPr algn="ctr">
                        <a:defRPr sz="800">
                          <a:solidFill>
                            <a:srgbClr val="F43F5E"/>
                          </a:solidFill>
                          <a:latin typeface="Segoe UI"/>
                        </a:defRPr>
                      </a:pPr>
                      <a:r>
                        <a:t>❌</a:t>
                      </a:r>
                    </a:p>
                  </a:txBody>
                  <a:tcPr anchor="ctr">
                    <a:solidFill>
                      <a:srgbClr val="161E2E"/>
                    </a:solidFill>
                  </a:tcPr>
                </a:tc>
                <a:tc>
                  <a:txBody>
                    <a:bodyPr wrap="square" lIns="18288" rIns="18288" tIns="18288" bIns="18288"/>
                    <a:lstStyle/>
                    <a:p>
                      <a:pPr algn="ctr">
                        <a:defRPr sz="800">
                          <a:solidFill>
                            <a:srgbClr val="34D399"/>
                          </a:solidFill>
                          <a:latin typeface="Segoe UI"/>
                        </a:defRPr>
                      </a:pPr>
                      <a:r>
                        <a:t>✅</a:t>
                      </a:r>
                    </a:p>
                  </a:txBody>
                  <a:tcPr anchor="ctr">
                    <a:solidFill>
                      <a:srgbClr val="161E2E"/>
                    </a:solidFill>
                  </a:tcPr>
                </a:tc>
                <a:tc>
                  <a:txBody>
                    <a:bodyPr wrap="square" lIns="18288" rIns="18288" tIns="18288" bIns="18288"/>
                    <a:lstStyle/>
                    <a:p>
                      <a:pPr algn="ctr">
                        <a:defRPr sz="800">
                          <a:solidFill>
                            <a:srgbClr val="34D399"/>
                          </a:solidFill>
                          <a:latin typeface="Segoe UI"/>
                        </a:defRPr>
                      </a:pPr>
                      <a:r>
                        <a:t>✅</a:t>
                      </a:r>
                    </a:p>
                  </a:txBody>
                  <a:tcPr anchor="ctr">
                    <a:solidFill>
                      <a:srgbClr val="161E2E"/>
                    </a:solidFill>
                  </a:tcPr>
                </a:tc>
                <a:tc>
                  <a:txBody>
                    <a:bodyPr wrap="square" lIns="18288" rIns="18288" tIns="18288" bIns="18288"/>
                    <a:lstStyle/>
                    <a:p>
                      <a:pPr algn="ctr">
                        <a:defRPr sz="800">
                          <a:solidFill>
                            <a:srgbClr val="34D399"/>
                          </a:solidFill>
                          <a:latin typeface="Segoe UI"/>
                        </a:defRPr>
                      </a:pPr>
                      <a:r>
                        <a:t>✅</a:t>
                      </a:r>
                    </a:p>
                  </a:txBody>
                  <a:tcPr anchor="ctr">
                    <a:solidFill>
                      <a:srgbClr val="161E2E"/>
                    </a:solidFill>
                  </a:tcPr>
                </a:tc>
              </a:tr>
              <a:tr h="436880">
                <a:tc>
                  <a:txBody>
                    <a:bodyPr wrap="square" lIns="18288" rIns="18288" tIns="18288" bIns="18288"/>
                    <a:lstStyle/>
                    <a:p>
                      <a:pPr algn="l">
                        <a:defRPr sz="800">
                          <a:solidFill>
                            <a:srgbClr val="F8FAFC"/>
                          </a:solidFill>
                          <a:latin typeface="Consolas"/>
                        </a:defRPr>
                      </a:pPr>
                      <a:r>
                        <a:t>POST /soft-delete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lIns="18288" rIns="18288" tIns="18288" bIns="18288"/>
                    <a:lstStyle/>
                    <a:p>
                      <a:pPr algn="ctr">
                        <a:defRPr sz="800">
                          <a:solidFill>
                            <a:srgbClr val="F43F5E"/>
                          </a:solidFill>
                          <a:latin typeface="Segoe UI"/>
                        </a:defRPr>
                      </a:pPr>
                      <a:r>
                        <a:t>❌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lIns="18288" rIns="18288" tIns="18288" bIns="18288"/>
                    <a:lstStyle/>
                    <a:p>
                      <a:pPr algn="ctr">
                        <a:defRPr sz="800">
                          <a:solidFill>
                            <a:srgbClr val="F43F5E"/>
                          </a:solidFill>
                          <a:latin typeface="Segoe UI"/>
                        </a:defRPr>
                      </a:pPr>
                      <a:r>
                        <a:t>❌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lIns="18288" rIns="18288" tIns="18288" bIns="18288"/>
                    <a:lstStyle/>
                    <a:p>
                      <a:pPr algn="ctr">
                        <a:defRPr sz="800">
                          <a:solidFill>
                            <a:srgbClr val="F43F5E"/>
                          </a:solidFill>
                          <a:latin typeface="Segoe UI"/>
                        </a:defRPr>
                      </a:pPr>
                      <a:r>
                        <a:t>❌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lIns="18288" rIns="18288" tIns="18288" bIns="18288"/>
                    <a:lstStyle/>
                    <a:p>
                      <a:pPr algn="ctr">
                        <a:defRPr sz="800">
                          <a:solidFill>
                            <a:srgbClr val="34D399"/>
                          </a:solidFill>
                          <a:latin typeface="Segoe UI"/>
                        </a:defRPr>
                      </a:pPr>
                      <a:r>
                        <a:t>✅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436880">
                <a:tc>
                  <a:txBody>
                    <a:bodyPr wrap="square" lIns="18288" rIns="18288" tIns="18288" bIns="18288"/>
                    <a:lstStyle/>
                    <a:p>
                      <a:pPr algn="l">
                        <a:defRPr sz="800">
                          <a:solidFill>
                            <a:srgbClr val="F8FAFC"/>
                          </a:solidFill>
                          <a:latin typeface="Consolas"/>
                        </a:defRPr>
                      </a:pPr>
                      <a:r>
                        <a:t>POST /restore</a:t>
                      </a:r>
                    </a:p>
                  </a:txBody>
                  <a:tcPr anchor="ctr">
                    <a:solidFill>
                      <a:srgbClr val="161E2E"/>
                    </a:solidFill>
                  </a:tcPr>
                </a:tc>
                <a:tc>
                  <a:txBody>
                    <a:bodyPr wrap="square" lIns="18288" rIns="18288" tIns="18288" bIns="18288"/>
                    <a:lstStyle/>
                    <a:p>
                      <a:pPr algn="ctr">
                        <a:defRPr sz="800">
                          <a:solidFill>
                            <a:srgbClr val="F43F5E"/>
                          </a:solidFill>
                          <a:latin typeface="Segoe UI"/>
                        </a:defRPr>
                      </a:pPr>
                      <a:r>
                        <a:t>❌</a:t>
                      </a:r>
                    </a:p>
                  </a:txBody>
                  <a:tcPr anchor="ctr">
                    <a:solidFill>
                      <a:srgbClr val="161E2E"/>
                    </a:solidFill>
                  </a:tcPr>
                </a:tc>
                <a:tc>
                  <a:txBody>
                    <a:bodyPr wrap="square" lIns="18288" rIns="18288" tIns="18288" bIns="18288"/>
                    <a:lstStyle/>
                    <a:p>
                      <a:pPr algn="ctr">
                        <a:defRPr sz="800">
                          <a:solidFill>
                            <a:srgbClr val="F43F5E"/>
                          </a:solidFill>
                          <a:latin typeface="Segoe UI"/>
                        </a:defRPr>
                      </a:pPr>
                      <a:r>
                        <a:t>❌</a:t>
                      </a:r>
                    </a:p>
                  </a:txBody>
                  <a:tcPr anchor="ctr">
                    <a:solidFill>
                      <a:srgbClr val="161E2E"/>
                    </a:solidFill>
                  </a:tcPr>
                </a:tc>
                <a:tc>
                  <a:txBody>
                    <a:bodyPr wrap="square" lIns="18288" rIns="18288" tIns="18288" bIns="18288"/>
                    <a:lstStyle/>
                    <a:p>
                      <a:pPr algn="ctr">
                        <a:defRPr sz="800">
                          <a:solidFill>
                            <a:srgbClr val="F43F5E"/>
                          </a:solidFill>
                          <a:latin typeface="Segoe UI"/>
                        </a:defRPr>
                      </a:pPr>
                      <a:r>
                        <a:t>❌</a:t>
                      </a:r>
                    </a:p>
                  </a:txBody>
                  <a:tcPr anchor="ctr">
                    <a:solidFill>
                      <a:srgbClr val="161E2E"/>
                    </a:solidFill>
                  </a:tcPr>
                </a:tc>
                <a:tc>
                  <a:txBody>
                    <a:bodyPr wrap="square" lIns="18288" rIns="18288" tIns="18288" bIns="18288"/>
                    <a:lstStyle/>
                    <a:p>
                      <a:pPr algn="ctr">
                        <a:defRPr sz="800">
                          <a:solidFill>
                            <a:srgbClr val="34D399"/>
                          </a:solidFill>
                          <a:latin typeface="Segoe UI"/>
                        </a:defRPr>
                      </a:pPr>
                      <a:r>
                        <a:t>✅</a:t>
                      </a:r>
                    </a:p>
                  </a:txBody>
                  <a:tcPr anchor="ctr">
                    <a:solidFill>
                      <a:srgbClr val="161E2E"/>
                    </a:solidFill>
                  </a:tcPr>
                </a:tc>
              </a:tr>
              <a:tr h="436880">
                <a:tc>
                  <a:txBody>
                    <a:bodyPr wrap="square" lIns="18288" rIns="18288" tIns="18288" bIns="18288"/>
                    <a:lstStyle/>
                    <a:p>
                      <a:pPr algn="l">
                        <a:defRPr sz="800">
                          <a:solidFill>
                            <a:srgbClr val="F8FAFC"/>
                          </a:solidFill>
                          <a:latin typeface="Consolas"/>
                        </a:defRPr>
                      </a:pPr>
                      <a:r>
                        <a:t>POST /search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lIns="18288" rIns="18288" tIns="18288" bIns="18288"/>
                    <a:lstStyle/>
                    <a:p>
                      <a:pPr algn="ctr">
                        <a:defRPr sz="800">
                          <a:solidFill>
                            <a:srgbClr val="34D399"/>
                          </a:solidFill>
                          <a:latin typeface="Segoe UI"/>
                        </a:defRPr>
                      </a:pPr>
                      <a:r>
                        <a:t>✅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lIns="18288" rIns="18288" tIns="18288" bIns="18288"/>
                    <a:lstStyle/>
                    <a:p>
                      <a:pPr algn="ctr">
                        <a:defRPr sz="800">
                          <a:solidFill>
                            <a:srgbClr val="34D399"/>
                          </a:solidFill>
                          <a:latin typeface="Segoe UI"/>
                        </a:defRPr>
                      </a:pPr>
                      <a:r>
                        <a:t>✅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lIns="18288" rIns="18288" tIns="18288" bIns="18288"/>
                    <a:lstStyle/>
                    <a:p>
                      <a:pPr algn="ctr">
                        <a:defRPr sz="800">
                          <a:solidFill>
                            <a:srgbClr val="34D399"/>
                          </a:solidFill>
                          <a:latin typeface="Segoe UI"/>
                        </a:defRPr>
                      </a:pPr>
                      <a:r>
                        <a:t>✅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lIns="18288" rIns="18288" tIns="18288" bIns="18288"/>
                    <a:lstStyle/>
                    <a:p>
                      <a:pPr algn="ctr">
                        <a:defRPr sz="800">
                          <a:solidFill>
                            <a:srgbClr val="34D399"/>
                          </a:solidFill>
                          <a:latin typeface="Segoe UI"/>
                        </a:defRPr>
                      </a:pPr>
                      <a:r>
                        <a:t>✅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6400800" y="1554480"/>
            <a:ext cx="5059375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629400" y="1737360"/>
            <a:ext cx="460217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4D399"/>
                </a:solidFill>
                <a:latin typeface="Segoe UI"/>
              </a:defRPr>
            </a:pPr>
            <a:r>
              <a:t>Enterprise Cryptography &amp; WORM Controls</a:t>
            </a:r>
          </a:p>
          <a:p>
            <a:pPr>
              <a:spcBef>
                <a:spcPts val="600"/>
              </a:spcBef>
              <a:defRPr sz="1000" b="1">
                <a:solidFill>
                  <a:srgbClr val="38BDF8"/>
                </a:solidFill>
                <a:latin typeface="Segoe UI"/>
              </a:defRPr>
            </a:pPr>
            <a:r>
              <a:t>AWS KMS Customer Managed Key (CMK):</a:t>
            </a:r>
          </a:p>
          <a:p>
            <a:pPr>
              <a:spcBef>
                <a:spcPts val="100"/>
              </a:spcBef>
              <a:defRPr sz="850">
                <a:solidFill>
                  <a:srgbClr val="94A3B8"/>
                </a:solidFill>
                <a:latin typeface="Segoe UI"/>
              </a:defRPr>
            </a:pPr>
            <a:r>
              <a:t>Central key (alias/doc-platform-mvp) with automatic annual rotation encrypting S3 buckets, DynamoDB, SQS queues, and CloudWatch log groups.</a:t>
            </a:r>
          </a:p>
          <a:p>
            <a:pPr>
              <a:spcBef>
                <a:spcPts val="600"/>
              </a:spcBef>
              <a:defRPr sz="1000" b="1">
                <a:solidFill>
                  <a:srgbClr val="38BDF8"/>
                </a:solidFill>
                <a:latin typeface="Segoe UI"/>
              </a:defRPr>
            </a:pPr>
            <a:r>
              <a:t>WORM Immutability Policy:</a:t>
            </a:r>
          </a:p>
          <a:p>
            <a:pPr>
              <a:spcBef>
                <a:spcPts val="100"/>
              </a:spcBef>
              <a:defRPr sz="850">
                <a:solidFill>
                  <a:srgbClr val="94A3B8"/>
                </a:solidFill>
                <a:latin typeface="Segoe UI"/>
              </a:defRPr>
            </a:pPr>
            <a:r>
              <a:t>Explicit s3:DeleteObjectVersion DENY in IAM execution policies. Raw object versions cannot be overwritten or destroyed.</a:t>
            </a:r>
          </a:p>
          <a:p>
            <a:pPr>
              <a:spcBef>
                <a:spcPts val="600"/>
              </a:spcBef>
              <a:defRPr sz="1000" b="1">
                <a:solidFill>
                  <a:srgbClr val="38BDF8"/>
                </a:solidFill>
                <a:latin typeface="Segoe UI"/>
              </a:defRPr>
            </a:pPr>
            <a:r>
              <a:t>Zero Public S3 Access:</a:t>
            </a:r>
          </a:p>
          <a:p>
            <a:pPr>
              <a:spcBef>
                <a:spcPts val="100"/>
              </a:spcBef>
              <a:defRPr sz="850">
                <a:solidFill>
                  <a:srgbClr val="94A3B8"/>
                </a:solidFill>
                <a:latin typeface="Segoe UI"/>
              </a:defRPr>
            </a:pPr>
            <a:r>
              <a:t>All S3 buckets enforce S3 Block Public Access with TLS 1.2+ SSL enforcement in bucket policies.</a:t>
            </a:r>
          </a:p>
          <a:p>
            <a:pPr>
              <a:spcBef>
                <a:spcPts val="600"/>
              </a:spcBef>
              <a:defRPr sz="1000" b="1">
                <a:solidFill>
                  <a:srgbClr val="38BDF8"/>
                </a:solidFill>
                <a:latin typeface="Segoe UI"/>
              </a:defRPr>
            </a:pPr>
            <a:r>
              <a:t>Micro-Perimeter IAM Roles:</a:t>
            </a:r>
          </a:p>
          <a:p>
            <a:pPr>
              <a:spcBef>
                <a:spcPts val="100"/>
              </a:spcBef>
              <a:defRPr sz="850">
                <a:solidFill>
                  <a:srgbClr val="94A3B8"/>
                </a:solidFill>
                <a:latin typeface="Segoe UI"/>
              </a:defRPr>
            </a:pPr>
            <a:r>
              <a:t>Each Lambda has a dedicated execution role granting strictly required actions (e.g. Search Lambda cannot write to S3 or DynamoDB).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46520"/>
            <a:ext cx="10728655" cy="1371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510528"/>
            <a:ext cx="77724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AWS Document Management Platform • Solution Architecture &amp; Sequence Specification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510528"/>
            <a:ext cx="2316175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 b="1">
                <a:solidFill>
                  <a:srgbClr val="38BDF8"/>
                </a:solidFill>
                <a:latin typeface="Segoe UI"/>
              </a:defRPr>
            </a:pPr>
            <a:r>
              <a:t>20 / 22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  <a:latin typeface="Segoe UI"/>
              </a:defRPr>
            </a:pPr>
            <a:r>
              <a:t>DEPLOYMENT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8FAFC"/>
                </a:solidFill>
                <a:latin typeface="Segoe UI"/>
              </a:defRPr>
            </a:pPr>
            <a:r>
              <a:t>Infrastructure as Code: AWS CDK v2 Modular Stacks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15568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Deterministic TypeScript CloudFormation Topologies with Zero Circular Dependencies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212080" cy="1051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4937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1. SecurityStack</a:t>
            </a:r>
          </a:p>
          <a:p>
            <a:pPr>
              <a:defRPr sz="850">
                <a:solidFill>
                  <a:srgbClr val="F8FAFC"/>
                </a:solidFill>
                <a:latin typeface="Segoe UI"/>
              </a:defRPr>
            </a:pPr>
            <a:r>
              <a:t>• Resources: Cognito User Pool, App Client &amp; KMS CMK Key</a:t>
            </a:r>
          </a:p>
          <a:p>
            <a:pPr>
              <a:defRPr sz="800">
                <a:solidFill>
                  <a:srgbClr val="94A3B8"/>
                </a:solidFill>
                <a:latin typeface="Segoe UI"/>
              </a:defRPr>
            </a:pPr>
            <a:r>
              <a:t>• Purpose: Provisions identity directory, RBAC groups &amp; central encryption key.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48095" y="1554480"/>
            <a:ext cx="5212080" cy="1051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85255" y="1645920"/>
            <a:ext cx="4937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4D399"/>
                </a:solidFill>
                <a:latin typeface="Segoe UI"/>
              </a:defRPr>
            </a:pPr>
            <a:r>
              <a:t>2. StorageStack</a:t>
            </a:r>
          </a:p>
          <a:p>
            <a:pPr>
              <a:defRPr sz="850">
                <a:solidFill>
                  <a:srgbClr val="F8FAFC"/>
                </a:solidFill>
                <a:latin typeface="Segoe UI"/>
              </a:defRPr>
            </a:pPr>
            <a:r>
              <a:t>• Resources: S3 Primary Document Bucket &amp; S3 Audit Bucket</a:t>
            </a:r>
          </a:p>
          <a:p>
            <a:pPr>
              <a:defRPr sz="800">
                <a:solidFill>
                  <a:srgbClr val="94A3B8"/>
                </a:solidFill>
                <a:latin typeface="Segoe UI"/>
              </a:defRPr>
            </a:pPr>
            <a:r>
              <a:t>• Purpose: Configures versioning, encryption, CORS &amp; WORM protection policies.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715768"/>
            <a:ext cx="5212080" cy="1051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807208"/>
            <a:ext cx="4937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C084FC"/>
                </a:solidFill>
                <a:latin typeface="Segoe UI"/>
              </a:defRPr>
            </a:pPr>
            <a:r>
              <a:t>3. SearchStack</a:t>
            </a:r>
          </a:p>
          <a:p>
            <a:pPr>
              <a:defRPr sz="850">
                <a:solidFill>
                  <a:srgbClr val="F8FAFC"/>
                </a:solidFill>
                <a:latin typeface="Segoe UI"/>
              </a:defRPr>
            </a:pPr>
            <a:r>
              <a:t>• Resources: OpenSearch Serverless Collection (documents-v1)</a:t>
            </a:r>
          </a:p>
          <a:p>
            <a:pPr>
              <a:defRPr sz="800">
                <a:solidFill>
                  <a:srgbClr val="94A3B8"/>
                </a:solidFill>
                <a:latin typeface="Segoe UI"/>
              </a:defRPr>
            </a:pPr>
            <a:r>
              <a:t>• Purpose: Sets up vector/search collection, encryption &amp; network security policies.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8095" y="2715768"/>
            <a:ext cx="5212080" cy="1051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85255" y="2807208"/>
            <a:ext cx="4937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9900"/>
                </a:solidFill>
                <a:latin typeface="Segoe UI"/>
              </a:defRPr>
            </a:pPr>
            <a:r>
              <a:t>4. MessagingStack</a:t>
            </a:r>
          </a:p>
          <a:p>
            <a:pPr>
              <a:defRPr sz="850">
                <a:solidFill>
                  <a:srgbClr val="F8FAFC"/>
                </a:solidFill>
                <a:latin typeface="Segoe UI"/>
              </a:defRPr>
            </a:pPr>
            <a:r>
              <a:t>• Resources: Amazon SQS Indexing Queue &amp; Dead-Letter Queue</a:t>
            </a:r>
          </a:p>
          <a:p>
            <a:pPr>
              <a:defRPr sz="800">
                <a:solidFill>
                  <a:srgbClr val="94A3B8"/>
                </a:solidFill>
                <a:latin typeface="Segoe UI"/>
              </a:defRPr>
            </a:pPr>
            <a:r>
              <a:t>• Purpose: Buffers CDC events with 3x retry limit and CloudWatch alarm triggers.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877056"/>
            <a:ext cx="5212080" cy="1051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968496"/>
            <a:ext cx="4937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BBF24"/>
                </a:solidFill>
                <a:latin typeface="Segoe UI"/>
              </a:defRPr>
            </a:pPr>
            <a:r>
              <a:t>5. ControlPlaneStack</a:t>
            </a:r>
          </a:p>
          <a:p>
            <a:pPr>
              <a:defRPr sz="850">
                <a:solidFill>
                  <a:srgbClr val="F8FAFC"/>
                </a:solidFill>
                <a:latin typeface="Segoe UI"/>
              </a:defRPr>
            </a:pPr>
            <a:r>
              <a:t>• Resources: DynamoDB Table (doc-platform-mvp-control)</a:t>
            </a:r>
          </a:p>
          <a:p>
            <a:pPr>
              <a:defRPr sz="800">
                <a:solidFill>
                  <a:srgbClr val="94A3B8"/>
                </a:solidFill>
                <a:latin typeface="Segoe UI"/>
              </a:defRPr>
            </a:pPr>
            <a:r>
              <a:t>• Purpose: Provisions single-table design with PITR and DynamoDB Streams enabled.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48095" y="3877056"/>
            <a:ext cx="5212080" cy="1051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85255" y="3968496"/>
            <a:ext cx="4937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6. ComputeStack</a:t>
            </a:r>
          </a:p>
          <a:p>
            <a:pPr>
              <a:defRPr sz="850">
                <a:solidFill>
                  <a:srgbClr val="F8FAFC"/>
                </a:solidFill>
                <a:latin typeface="Segoe UI"/>
              </a:defRPr>
            </a:pPr>
            <a:r>
              <a:t>• Resources: 8 Dedicated AWS Lambda Functions</a:t>
            </a:r>
          </a:p>
          <a:p>
            <a:pPr>
              <a:defRPr sz="800">
                <a:solidFill>
                  <a:srgbClr val="94A3B8"/>
                </a:solidFill>
                <a:latin typeface="Segoe UI"/>
              </a:defRPr>
            </a:pPr>
            <a:r>
              <a:t>• Purpose: Deploys Command, Query, Search, Stream &amp; Indexer microservices.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038344"/>
            <a:ext cx="5212080" cy="1051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5129784"/>
            <a:ext cx="4937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4D399"/>
                </a:solidFill>
                <a:latin typeface="Segoe UI"/>
              </a:defRPr>
            </a:pPr>
            <a:r>
              <a:t>7. ApiStack</a:t>
            </a:r>
          </a:p>
          <a:p>
            <a:pPr>
              <a:defRPr sz="850">
                <a:solidFill>
                  <a:srgbClr val="F8FAFC"/>
                </a:solidFill>
                <a:latin typeface="Segoe UI"/>
              </a:defRPr>
            </a:pPr>
            <a:r>
              <a:t>• Resources: Amazon API Gateway REST API &amp; Cognito Authorizer</a:t>
            </a:r>
          </a:p>
          <a:p>
            <a:pPr>
              <a:defRPr sz="800">
                <a:solidFill>
                  <a:srgbClr val="94A3B8"/>
                </a:solidFill>
                <a:latin typeface="Segoe UI"/>
              </a:defRPr>
            </a:pPr>
            <a:r>
              <a:t>• Purpose: Wires routes, authorizer, throttling limits, and CORS configuration.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48095" y="5038344"/>
            <a:ext cx="5212080" cy="1051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85255" y="5129784"/>
            <a:ext cx="4937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43F5E"/>
                </a:solidFill>
                <a:latin typeface="Segoe UI"/>
              </a:defRPr>
            </a:pPr>
            <a:r>
              <a:t>8. FrontendStack</a:t>
            </a:r>
          </a:p>
          <a:p>
            <a:pPr>
              <a:defRPr sz="850">
                <a:solidFill>
                  <a:srgbClr val="F8FAFC"/>
                </a:solidFill>
                <a:latin typeface="Segoe UI"/>
              </a:defRPr>
            </a:pPr>
            <a:r>
              <a:t>• Resources: Observability Dashboards &amp; UI Support</a:t>
            </a:r>
          </a:p>
          <a:p>
            <a:pPr>
              <a:defRPr sz="800">
                <a:solidFill>
                  <a:srgbClr val="94A3B8"/>
                </a:solidFill>
                <a:latin typeface="Segoe UI"/>
              </a:defRPr>
            </a:pPr>
            <a:r>
              <a:t>• Purpose: Configures CloudWatch metrics, alarms, and Streamlit UI container tasks.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6446520"/>
            <a:ext cx="10728655" cy="1371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6510528"/>
            <a:ext cx="77724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AWS Document Management Platform • Solution Architecture &amp; Sequence Specification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6510528"/>
            <a:ext cx="2316175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 b="1">
                <a:solidFill>
                  <a:srgbClr val="38BDF8"/>
                </a:solidFill>
                <a:latin typeface="Segoe UI"/>
              </a:defRPr>
            </a:pPr>
            <a:r>
              <a:t>21 / 22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  <a:latin typeface="Segoe UI"/>
              </a:defRPr>
            </a:pPr>
            <a:r>
              <a:t>EXECUTIVE SUMMARY &amp; VALUE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8FAFC"/>
                </a:solidFill>
                <a:latin typeface="Segoe UI"/>
              </a:defRPr>
            </a:pPr>
            <a:r>
              <a:t>Strategic Architecture Summary &amp; Decision Records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15568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Why This Cloud-Native Blueprint Delivers Unrivaled Durability, Cost-Efficiency &amp; Compliance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3429000" cy="15544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Segoe UI"/>
              </a:defRPr>
            </a:pPr>
            <a:r>
              <a:t>1. Zero Idle TCO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011680"/>
            <a:ext cx="31546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Operational costs scale strictly with business transactions. Dev/Test and staging environments cost $0 when idle, eliminating multi-million dollar annual ECM licenses.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9976" y="1508760"/>
            <a:ext cx="3429000" cy="15544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17136" y="1645920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4D399"/>
                </a:solidFill>
                <a:latin typeface="Segoe UI"/>
              </a:defRPr>
            </a:pPr>
            <a:r>
              <a:t>2. Infinite WORM Durability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17136" y="2011680"/>
            <a:ext cx="31546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S3 11 9s durability combined with immutable S3 Versioning and explicit IAM Deny policies provides airtight compliance against ransomware or accidental deletion.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28432" y="1508760"/>
            <a:ext cx="3429000" cy="15544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65592" y="1645920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C084FC"/>
                </a:solidFill>
                <a:latin typeface="Segoe UI"/>
              </a:defRPr>
            </a:pPr>
            <a:r>
              <a:t>3. Blast Radius Isolation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65592" y="2011680"/>
            <a:ext cx="31546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Decoupled CQRS storage architecture ensures search cluster re-indexing or outages never disrupt core document ingestion, metadata updates, or downloads.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731520" y="3246120"/>
          <a:ext cx="10728655" cy="2971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560320"/>
                <a:gridCol w="2560320"/>
                <a:gridCol w="3322015"/>
              </a:tblGrid>
              <a:tr h="495300"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950" b="1">
                          <a:solidFill>
                            <a:srgbClr val="FF9900"/>
                          </a:solidFill>
                          <a:latin typeface="Segoe UI"/>
                        </a:defRPr>
                      </a:pPr>
                      <a:r>
                        <a:t>Architectural Decision</a:t>
                      </a:r>
                    </a:p>
                  </a:txBody>
                  <a:tcPr anchor="ctr">
                    <a:solidFill>
                      <a:srgbClr val="18202F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950" b="1">
                          <a:solidFill>
                            <a:srgbClr val="38BDF8"/>
                          </a:solidFill>
                          <a:latin typeface="Segoe UI"/>
                        </a:defRPr>
                      </a:pPr>
                      <a:r>
                        <a:t>Chosen Approach</a:t>
                      </a:r>
                    </a:p>
                  </a:txBody>
                  <a:tcPr anchor="ctr">
                    <a:solidFill>
                      <a:srgbClr val="18202F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950" b="1">
                          <a:solidFill>
                            <a:srgbClr val="38BDF8"/>
                          </a:solidFill>
                          <a:latin typeface="Segoe UI"/>
                        </a:defRPr>
                      </a:pPr>
                      <a:r>
                        <a:t>Alternative Rejected</a:t>
                      </a:r>
                    </a:p>
                  </a:txBody>
                  <a:tcPr anchor="ctr">
                    <a:solidFill>
                      <a:srgbClr val="18202F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950" b="1">
                          <a:solidFill>
                            <a:srgbClr val="38BDF8"/>
                          </a:solidFill>
                          <a:latin typeface="Segoe UI"/>
                        </a:defRPr>
                      </a:pPr>
                      <a:r>
                        <a:t>Core Strategic Justification</a:t>
                      </a:r>
                    </a:p>
                  </a:txBody>
                  <a:tcPr anchor="ctr">
                    <a:solidFill>
                      <a:srgbClr val="18202F"/>
                    </a:solidFill>
                  </a:tcPr>
                </a:tc>
              </a:tr>
              <a:tr h="495300"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800" b="1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Metadata Storage Model</a:t>
                      </a:r>
                    </a:p>
                  </a:txBody>
                  <a:tcPr anchor="ctr">
                    <a:solidFill>
                      <a:srgbClr val="161E2E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800">
                          <a:solidFill>
                            <a:srgbClr val="34D399"/>
                          </a:solidFill>
                          <a:latin typeface="Segoe UI"/>
                        </a:defRPr>
                      </a:pPr>
                      <a:r>
                        <a:t>S3 Native Annotations</a:t>
                      </a:r>
                    </a:p>
                  </a:txBody>
                  <a:tcPr anchor="ctr">
                    <a:solidFill>
                      <a:srgbClr val="161E2E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800">
                          <a:solidFill>
                            <a:srgbClr val="F43F5E"/>
                          </a:solidFill>
                          <a:latin typeface="Segoe UI"/>
                        </a:defRPr>
                      </a:pPr>
                      <a:r>
                        <a:t>S3 Headers (2 KB) / Sidecar Files</a:t>
                      </a:r>
                    </a:p>
                  </a:txBody>
                  <a:tcPr anchor="ctr">
                    <a:solidFill>
                      <a:srgbClr val="161E2E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8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Overcomes 2 KB limit, avoids sidecar file proliferation, ready for S3 Iceberg SQL analytics.</a:t>
                      </a:r>
                    </a:p>
                  </a:txBody>
                  <a:tcPr anchor="ctr">
                    <a:solidFill>
                      <a:srgbClr val="161E2E"/>
                    </a:solidFill>
                  </a:tcPr>
                </a:tc>
              </a:tr>
              <a:tr h="495300"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800" b="1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Transactional Control Plane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800">
                          <a:solidFill>
                            <a:srgbClr val="34D399"/>
                          </a:solidFill>
                          <a:latin typeface="Segoe UI"/>
                        </a:defRPr>
                      </a:pPr>
                      <a:r>
                        <a:t>DynamoDB Single-Table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800">
                          <a:solidFill>
                            <a:srgbClr val="F43F5E"/>
                          </a:solidFill>
                          <a:latin typeface="Segoe UI"/>
                        </a:defRPr>
                      </a:pPr>
                      <a:r>
                        <a:t>Aurora PostgreSQL / DocumentDB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8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Single-digit millisecond latency, atomic OCC conditional updates, zero server maintenance.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495300"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800" b="1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Search Engine Topology</a:t>
                      </a:r>
                    </a:p>
                  </a:txBody>
                  <a:tcPr anchor="ctr">
                    <a:solidFill>
                      <a:srgbClr val="161E2E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800">
                          <a:solidFill>
                            <a:srgbClr val="34D399"/>
                          </a:solidFill>
                          <a:latin typeface="Segoe UI"/>
                        </a:defRPr>
                      </a:pPr>
                      <a:r>
                        <a:t>OpenSearch Serverless</a:t>
                      </a:r>
                    </a:p>
                  </a:txBody>
                  <a:tcPr anchor="ctr">
                    <a:solidFill>
                      <a:srgbClr val="161E2E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800">
                          <a:solidFill>
                            <a:srgbClr val="F43F5E"/>
                          </a:solidFill>
                          <a:latin typeface="Segoe UI"/>
                        </a:defRPr>
                      </a:pPr>
                      <a:r>
                        <a:t>Elasticsearch on EC2 / OpenSearch Cluster</a:t>
                      </a:r>
                    </a:p>
                  </a:txBody>
                  <a:tcPr anchor="ctr">
                    <a:solidFill>
                      <a:srgbClr val="161E2E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8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Zero cluster sizing, auto-scaling OCUs, IAM SigV4 authentication, full blast radius isolation.</a:t>
                      </a:r>
                    </a:p>
                  </a:txBody>
                  <a:tcPr anchor="ctr">
                    <a:solidFill>
                      <a:srgbClr val="161E2E"/>
                    </a:solidFill>
                  </a:tcPr>
                </a:tc>
              </a:tr>
              <a:tr h="495300"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800" b="1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Ingestion Protocol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800">
                          <a:solidFill>
                            <a:srgbClr val="34D399"/>
                          </a:solidFill>
                          <a:latin typeface="Segoe UI"/>
                        </a:defRPr>
                      </a:pPr>
                      <a:r>
                        <a:t>Bimodal (Inline ≤4MB, Direct &gt;4MB)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800">
                          <a:solidFill>
                            <a:srgbClr val="F43F5E"/>
                          </a:solidFill>
                          <a:latin typeface="Segoe UI"/>
                        </a:defRPr>
                      </a:pPr>
                      <a:r>
                        <a:t>API Gateway Streaming Only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8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Bypasses 10 MiB API Gateway ceiling and Lambda memory costs for multi-gigabyte files.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495300"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800" b="1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Metadata Schema Validation</a:t>
                      </a:r>
                    </a:p>
                  </a:txBody>
                  <a:tcPr anchor="ctr">
                    <a:solidFill>
                      <a:srgbClr val="161E2E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800">
                          <a:solidFill>
                            <a:srgbClr val="34D399"/>
                          </a:solidFill>
                          <a:latin typeface="Segoe UI"/>
                        </a:defRPr>
                      </a:pPr>
                      <a:r>
                        <a:t>Build-Time GitOps (Ajv In-Memory)</a:t>
                      </a:r>
                    </a:p>
                  </a:txBody>
                  <a:tcPr anchor="ctr">
                    <a:solidFill>
                      <a:srgbClr val="161E2E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800">
                          <a:solidFill>
                            <a:srgbClr val="F43F5E"/>
                          </a:solidFill>
                          <a:latin typeface="Segoe UI"/>
                        </a:defRPr>
                      </a:pPr>
                      <a:r>
                        <a:t>Database Schema Lookups on Cold Start</a:t>
                      </a:r>
                    </a:p>
                  </a:txBody>
                  <a:tcPr anchor="ctr">
                    <a:solidFill>
                      <a:srgbClr val="161E2E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8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Zero cold start latency overhead (&lt;1ms validation), strict PR reviews and Git audit trail.</a:t>
                      </a:r>
                    </a:p>
                  </a:txBody>
                  <a:tcPr anchor="ctr">
                    <a:solidFill>
                      <a:srgbClr val="161E2E"/>
                    </a:solidFill>
                  </a:tcPr>
                </a:tc>
              </a:tr>
            </a:tbl>
          </a:graphicData>
        </a:graphic>
      </p:graphicFrame>
      <p:sp>
        <p:nvSpPr>
          <p:cNvPr id="15" name="Rectangle 14"/>
          <p:cNvSpPr/>
          <p:nvPr/>
        </p:nvSpPr>
        <p:spPr>
          <a:xfrm>
            <a:off x="731520" y="6446520"/>
            <a:ext cx="10728655" cy="1371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6510528"/>
            <a:ext cx="77724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AWS Document Management Platform • Solution Architecture &amp; Sequence Specification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0" y="6510528"/>
            <a:ext cx="2316175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 b="1">
                <a:solidFill>
                  <a:srgbClr val="38BDF8"/>
                </a:solidFill>
                <a:latin typeface="Segoe UI"/>
              </a:defRPr>
            </a:pPr>
            <a:r>
              <a:t>22 / 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